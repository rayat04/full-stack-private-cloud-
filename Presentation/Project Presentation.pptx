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7" r:id="rId2"/>
    <p:sldId id="258" r:id="rId3"/>
    <p:sldId id="259" r:id="rId4"/>
    <p:sldId id="260" r:id="rId5"/>
    <p:sldId id="261" r:id="rId6"/>
    <p:sldId id="262" r:id="rId7"/>
    <p:sldId id="263" r:id="rId8"/>
    <p:sldId id="264" r:id="rId9"/>
    <p:sldId id="265" r:id="rId10"/>
    <p:sldId id="266" r:id="rId11"/>
    <p:sldId id="267" r:id="rId12"/>
    <p:sldId id="270" r:id="rId13"/>
    <p:sldId id="268" r:id="rId14"/>
    <p:sldId id="271" r:id="rId15"/>
    <p:sldId id="272" r:id="rId16"/>
    <p:sldId id="273" r:id="rId17"/>
    <p:sldId id="274" r:id="rId18"/>
    <p:sldId id="275" r:id="rId19"/>
    <p:sldId id="279" r:id="rId20"/>
    <p:sldId id="280" r:id="rId21"/>
    <p:sldId id="282" r:id="rId22"/>
    <p:sldId id="276" r:id="rId23"/>
    <p:sldId id="277" r:id="rId24"/>
    <p:sldId id="283"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78" d="100"/>
          <a:sy n="78" d="100"/>
        </p:scale>
        <p:origin x="86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ata2.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2.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1E9A175-C08A-4A34-9152-3436C459EE89}"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BCBA25AA-72AB-4175-9415-2E9063007814}">
      <dgm:prSet/>
      <dgm:spPr/>
      <dgm:t>
        <a:bodyPr/>
        <a:lstStyle/>
        <a:p>
          <a:pPr>
            <a:lnSpc>
              <a:spcPct val="100000"/>
            </a:lnSpc>
          </a:pPr>
          <a:r>
            <a:rPr lang="en-IN"/>
            <a:t>To showcase Nextcloud’s cloud storage capabilities, including secure file storage, sharing, and collaboration, while ensuring complete control over data. The implementation will involve server setup, database configuration, web server deployment, and security hardening. This will result in a production-ready private cloud environment.</a:t>
          </a:r>
          <a:endParaRPr lang="en-US"/>
        </a:p>
      </dgm:t>
    </dgm:pt>
    <dgm:pt modelId="{772F7F83-C377-481A-BA76-75E87FD2813B}" type="parTrans" cxnId="{10D825DF-1305-42A1-AC47-2DD0F2376BFF}">
      <dgm:prSet/>
      <dgm:spPr/>
      <dgm:t>
        <a:bodyPr/>
        <a:lstStyle/>
        <a:p>
          <a:endParaRPr lang="en-US"/>
        </a:p>
      </dgm:t>
    </dgm:pt>
    <dgm:pt modelId="{3CA36C5A-3B46-4E1A-93CD-756CD2BEC8B4}" type="sibTrans" cxnId="{10D825DF-1305-42A1-AC47-2DD0F2376BFF}">
      <dgm:prSet/>
      <dgm:spPr/>
      <dgm:t>
        <a:bodyPr/>
        <a:lstStyle/>
        <a:p>
          <a:endParaRPr lang="en-US"/>
        </a:p>
      </dgm:t>
    </dgm:pt>
    <dgm:pt modelId="{728507DC-88F9-42A9-A46B-20303E808FB4}">
      <dgm:prSet/>
      <dgm:spPr/>
      <dgm:t>
        <a:bodyPr/>
        <a:lstStyle/>
        <a:p>
          <a:pPr>
            <a:lnSpc>
              <a:spcPct val="100000"/>
            </a:lnSpc>
          </a:pPr>
          <a:r>
            <a:rPr lang="en-IN"/>
            <a:t>To validate cross-platform accessibility by testing the system across different devices and operating systems. This demonstration will confirm the practicality of self-hosted cloud solutions. It will also highlight the benefits of data sovereignty, privacy control, and cost-effectiveness over commercial providers.</a:t>
          </a:r>
          <a:endParaRPr lang="en-US"/>
        </a:p>
      </dgm:t>
    </dgm:pt>
    <dgm:pt modelId="{821D941F-1896-442C-8088-3F0C60E8C918}" type="parTrans" cxnId="{1A40F085-9BD6-47CC-BE3D-56B091B8AFD5}">
      <dgm:prSet/>
      <dgm:spPr/>
      <dgm:t>
        <a:bodyPr/>
        <a:lstStyle/>
        <a:p>
          <a:endParaRPr lang="en-US"/>
        </a:p>
      </dgm:t>
    </dgm:pt>
    <dgm:pt modelId="{00F33E8B-B73A-446C-A45E-DC0B9884A368}" type="sibTrans" cxnId="{1A40F085-9BD6-47CC-BE3D-56B091B8AFD5}">
      <dgm:prSet/>
      <dgm:spPr/>
      <dgm:t>
        <a:bodyPr/>
        <a:lstStyle/>
        <a:p>
          <a:endParaRPr lang="en-US"/>
        </a:p>
      </dgm:t>
    </dgm:pt>
    <dgm:pt modelId="{0916BEC5-2456-418D-8512-CD38BF3F4705}">
      <dgm:prSet/>
      <dgm:spPr/>
      <dgm:t>
        <a:bodyPr/>
        <a:lstStyle/>
        <a:p>
          <a:pPr>
            <a:lnSpc>
              <a:spcPct val="100000"/>
            </a:lnSpc>
          </a:pPr>
          <a:r>
            <a:rPr lang="en-IN"/>
            <a:t>To provide participants with a comprehensive understanding of private cloud implementation. This includes server management, web application deployment, and key security practices. By the end, participants will recognize the practical advantages of controlling their own cloud infrastructure and data storage.</a:t>
          </a:r>
          <a:endParaRPr lang="en-US"/>
        </a:p>
      </dgm:t>
    </dgm:pt>
    <dgm:pt modelId="{2E7DF2FD-1A79-465E-9E0C-0982DA406425}" type="parTrans" cxnId="{F38EF2F6-76A5-4E81-BBCE-F8FC657ECA47}">
      <dgm:prSet/>
      <dgm:spPr/>
      <dgm:t>
        <a:bodyPr/>
        <a:lstStyle/>
        <a:p>
          <a:endParaRPr lang="en-US"/>
        </a:p>
      </dgm:t>
    </dgm:pt>
    <dgm:pt modelId="{9FED2962-FC8F-4774-8C87-D96B941F0F6D}" type="sibTrans" cxnId="{F38EF2F6-76A5-4E81-BBCE-F8FC657ECA47}">
      <dgm:prSet/>
      <dgm:spPr/>
      <dgm:t>
        <a:bodyPr/>
        <a:lstStyle/>
        <a:p>
          <a:endParaRPr lang="en-US"/>
        </a:p>
      </dgm:t>
    </dgm:pt>
    <dgm:pt modelId="{62C43F26-6FB1-410E-9B6C-6EBF13BDFB1C}" type="pres">
      <dgm:prSet presAssocID="{51E9A175-C08A-4A34-9152-3436C459EE89}" presName="root" presStyleCnt="0">
        <dgm:presLayoutVars>
          <dgm:dir/>
          <dgm:resizeHandles val="exact"/>
        </dgm:presLayoutVars>
      </dgm:prSet>
      <dgm:spPr/>
    </dgm:pt>
    <dgm:pt modelId="{58361F7A-38CE-440C-8D43-E5C6DF0A4EBB}" type="pres">
      <dgm:prSet presAssocID="{BCBA25AA-72AB-4175-9415-2E9063007814}" presName="compNode" presStyleCnt="0"/>
      <dgm:spPr/>
    </dgm:pt>
    <dgm:pt modelId="{2C607CEA-CD37-43CF-BA44-2320831365D8}" type="pres">
      <dgm:prSet presAssocID="{BCBA25AA-72AB-4175-9415-2E9063007814}" presName="bgRect" presStyleLbl="bgShp" presStyleIdx="0" presStyleCnt="3"/>
      <dgm:spPr/>
    </dgm:pt>
    <dgm:pt modelId="{6610F9E4-10F1-4519-95B2-6A7EBF73506F}" type="pres">
      <dgm:prSet presAssocID="{BCBA25AA-72AB-4175-9415-2E906300781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yncing Cloud"/>
        </a:ext>
      </dgm:extLst>
    </dgm:pt>
    <dgm:pt modelId="{DA19E349-3BFC-42CB-AA36-5DE98A89CB04}" type="pres">
      <dgm:prSet presAssocID="{BCBA25AA-72AB-4175-9415-2E9063007814}" presName="spaceRect" presStyleCnt="0"/>
      <dgm:spPr/>
    </dgm:pt>
    <dgm:pt modelId="{33AFB6D7-6E4F-4A2A-AD83-20AB8B4A9663}" type="pres">
      <dgm:prSet presAssocID="{BCBA25AA-72AB-4175-9415-2E9063007814}" presName="parTx" presStyleLbl="revTx" presStyleIdx="0" presStyleCnt="3">
        <dgm:presLayoutVars>
          <dgm:chMax val="0"/>
          <dgm:chPref val="0"/>
        </dgm:presLayoutVars>
      </dgm:prSet>
      <dgm:spPr/>
    </dgm:pt>
    <dgm:pt modelId="{3470588F-EE58-4AAE-A5D5-7E5FB7DE96B3}" type="pres">
      <dgm:prSet presAssocID="{3CA36C5A-3B46-4E1A-93CD-756CD2BEC8B4}" presName="sibTrans" presStyleCnt="0"/>
      <dgm:spPr/>
    </dgm:pt>
    <dgm:pt modelId="{760C8BD3-EC1E-40ED-9A86-412F54D9F18A}" type="pres">
      <dgm:prSet presAssocID="{728507DC-88F9-42A9-A46B-20303E808FB4}" presName="compNode" presStyleCnt="0"/>
      <dgm:spPr/>
    </dgm:pt>
    <dgm:pt modelId="{D2C12B13-8CCC-45C9-BA77-D25DCB75F062}" type="pres">
      <dgm:prSet presAssocID="{728507DC-88F9-42A9-A46B-20303E808FB4}" presName="bgRect" presStyleLbl="bgShp" presStyleIdx="1" presStyleCnt="3"/>
      <dgm:spPr/>
    </dgm:pt>
    <dgm:pt modelId="{FFBD4C7D-2BB1-4292-BC86-5EF00EE4C332}" type="pres">
      <dgm:prSet presAssocID="{728507DC-88F9-42A9-A46B-20303E808FB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ocessor"/>
        </a:ext>
      </dgm:extLst>
    </dgm:pt>
    <dgm:pt modelId="{6180406F-72C8-4DD4-8265-214B4ECAB7EC}" type="pres">
      <dgm:prSet presAssocID="{728507DC-88F9-42A9-A46B-20303E808FB4}" presName="spaceRect" presStyleCnt="0"/>
      <dgm:spPr/>
    </dgm:pt>
    <dgm:pt modelId="{3F998596-AE76-4B63-BE1E-A4C097B51F09}" type="pres">
      <dgm:prSet presAssocID="{728507DC-88F9-42A9-A46B-20303E808FB4}" presName="parTx" presStyleLbl="revTx" presStyleIdx="1" presStyleCnt="3">
        <dgm:presLayoutVars>
          <dgm:chMax val="0"/>
          <dgm:chPref val="0"/>
        </dgm:presLayoutVars>
      </dgm:prSet>
      <dgm:spPr/>
    </dgm:pt>
    <dgm:pt modelId="{E975D8FF-EEFB-4312-A8CA-6BAE8C6E6B08}" type="pres">
      <dgm:prSet presAssocID="{00F33E8B-B73A-446C-A45E-DC0B9884A368}" presName="sibTrans" presStyleCnt="0"/>
      <dgm:spPr/>
    </dgm:pt>
    <dgm:pt modelId="{D6CB3709-C7A3-4EDF-80BE-2522E9EDB7E5}" type="pres">
      <dgm:prSet presAssocID="{0916BEC5-2456-418D-8512-CD38BF3F4705}" presName="compNode" presStyleCnt="0"/>
      <dgm:spPr/>
    </dgm:pt>
    <dgm:pt modelId="{883528F1-C70E-4494-9780-4856F90BE65F}" type="pres">
      <dgm:prSet presAssocID="{0916BEC5-2456-418D-8512-CD38BF3F4705}" presName="bgRect" presStyleLbl="bgShp" presStyleIdx="2" presStyleCnt="3"/>
      <dgm:spPr/>
    </dgm:pt>
    <dgm:pt modelId="{CD83FC1C-4AE9-474B-BFAF-919C2E3F7E1F}" type="pres">
      <dgm:prSet presAssocID="{0916BEC5-2456-418D-8512-CD38BF3F470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loud Computing"/>
        </a:ext>
      </dgm:extLst>
    </dgm:pt>
    <dgm:pt modelId="{35F17051-DAB5-4030-B3B1-95281E3304F7}" type="pres">
      <dgm:prSet presAssocID="{0916BEC5-2456-418D-8512-CD38BF3F4705}" presName="spaceRect" presStyleCnt="0"/>
      <dgm:spPr/>
    </dgm:pt>
    <dgm:pt modelId="{37E79117-B7FE-4518-96FE-15C77B5441C8}" type="pres">
      <dgm:prSet presAssocID="{0916BEC5-2456-418D-8512-CD38BF3F4705}" presName="parTx" presStyleLbl="revTx" presStyleIdx="2" presStyleCnt="3">
        <dgm:presLayoutVars>
          <dgm:chMax val="0"/>
          <dgm:chPref val="0"/>
        </dgm:presLayoutVars>
      </dgm:prSet>
      <dgm:spPr/>
    </dgm:pt>
  </dgm:ptLst>
  <dgm:cxnLst>
    <dgm:cxn modelId="{678DF008-C3FE-4AFE-8364-172712A3BBBC}" type="presOf" srcId="{51E9A175-C08A-4A34-9152-3436C459EE89}" destId="{62C43F26-6FB1-410E-9B6C-6EBF13BDFB1C}" srcOrd="0" destOrd="0" presId="urn:microsoft.com/office/officeart/2018/2/layout/IconVerticalSolidList"/>
    <dgm:cxn modelId="{463FBD2B-6265-428B-B338-9AA2567AD6E3}" type="presOf" srcId="{0916BEC5-2456-418D-8512-CD38BF3F4705}" destId="{37E79117-B7FE-4518-96FE-15C77B5441C8}" srcOrd="0" destOrd="0" presId="urn:microsoft.com/office/officeart/2018/2/layout/IconVerticalSolidList"/>
    <dgm:cxn modelId="{6895674A-9488-4FCA-83EA-363B78D718A3}" type="presOf" srcId="{728507DC-88F9-42A9-A46B-20303E808FB4}" destId="{3F998596-AE76-4B63-BE1E-A4C097B51F09}" srcOrd="0" destOrd="0" presId="urn:microsoft.com/office/officeart/2018/2/layout/IconVerticalSolidList"/>
    <dgm:cxn modelId="{1A40F085-9BD6-47CC-BE3D-56B091B8AFD5}" srcId="{51E9A175-C08A-4A34-9152-3436C459EE89}" destId="{728507DC-88F9-42A9-A46B-20303E808FB4}" srcOrd="1" destOrd="0" parTransId="{821D941F-1896-442C-8088-3F0C60E8C918}" sibTransId="{00F33E8B-B73A-446C-A45E-DC0B9884A368}"/>
    <dgm:cxn modelId="{26B4A1D4-315A-4414-B446-3EEAB6CFCAD8}" type="presOf" srcId="{BCBA25AA-72AB-4175-9415-2E9063007814}" destId="{33AFB6D7-6E4F-4A2A-AD83-20AB8B4A9663}" srcOrd="0" destOrd="0" presId="urn:microsoft.com/office/officeart/2018/2/layout/IconVerticalSolidList"/>
    <dgm:cxn modelId="{10D825DF-1305-42A1-AC47-2DD0F2376BFF}" srcId="{51E9A175-C08A-4A34-9152-3436C459EE89}" destId="{BCBA25AA-72AB-4175-9415-2E9063007814}" srcOrd="0" destOrd="0" parTransId="{772F7F83-C377-481A-BA76-75E87FD2813B}" sibTransId="{3CA36C5A-3B46-4E1A-93CD-756CD2BEC8B4}"/>
    <dgm:cxn modelId="{F38EF2F6-76A5-4E81-BBCE-F8FC657ECA47}" srcId="{51E9A175-C08A-4A34-9152-3436C459EE89}" destId="{0916BEC5-2456-418D-8512-CD38BF3F4705}" srcOrd="2" destOrd="0" parTransId="{2E7DF2FD-1A79-465E-9E0C-0982DA406425}" sibTransId="{9FED2962-FC8F-4774-8C87-D96B941F0F6D}"/>
    <dgm:cxn modelId="{1722A2A9-52DC-41D0-A0ED-CBCE6F0C7D57}" type="presParOf" srcId="{62C43F26-6FB1-410E-9B6C-6EBF13BDFB1C}" destId="{58361F7A-38CE-440C-8D43-E5C6DF0A4EBB}" srcOrd="0" destOrd="0" presId="urn:microsoft.com/office/officeart/2018/2/layout/IconVerticalSolidList"/>
    <dgm:cxn modelId="{C06F5BFF-0600-4FEB-BCF8-693175209EE0}" type="presParOf" srcId="{58361F7A-38CE-440C-8D43-E5C6DF0A4EBB}" destId="{2C607CEA-CD37-43CF-BA44-2320831365D8}" srcOrd="0" destOrd="0" presId="urn:microsoft.com/office/officeart/2018/2/layout/IconVerticalSolidList"/>
    <dgm:cxn modelId="{CF49BA98-8D7F-44EE-9556-3AF7F01AA41F}" type="presParOf" srcId="{58361F7A-38CE-440C-8D43-E5C6DF0A4EBB}" destId="{6610F9E4-10F1-4519-95B2-6A7EBF73506F}" srcOrd="1" destOrd="0" presId="urn:microsoft.com/office/officeart/2018/2/layout/IconVerticalSolidList"/>
    <dgm:cxn modelId="{835DD6C9-896C-43A4-8B06-75AFF9B71787}" type="presParOf" srcId="{58361F7A-38CE-440C-8D43-E5C6DF0A4EBB}" destId="{DA19E349-3BFC-42CB-AA36-5DE98A89CB04}" srcOrd="2" destOrd="0" presId="urn:microsoft.com/office/officeart/2018/2/layout/IconVerticalSolidList"/>
    <dgm:cxn modelId="{E4FBA6B9-E956-4985-AF30-6715A384E5BF}" type="presParOf" srcId="{58361F7A-38CE-440C-8D43-E5C6DF0A4EBB}" destId="{33AFB6D7-6E4F-4A2A-AD83-20AB8B4A9663}" srcOrd="3" destOrd="0" presId="urn:microsoft.com/office/officeart/2018/2/layout/IconVerticalSolidList"/>
    <dgm:cxn modelId="{2E83EA4C-F071-4CE0-BF52-5E14071D0327}" type="presParOf" srcId="{62C43F26-6FB1-410E-9B6C-6EBF13BDFB1C}" destId="{3470588F-EE58-4AAE-A5D5-7E5FB7DE96B3}" srcOrd="1" destOrd="0" presId="urn:microsoft.com/office/officeart/2018/2/layout/IconVerticalSolidList"/>
    <dgm:cxn modelId="{20061050-58E0-4FDB-AF4D-2E840B1E303F}" type="presParOf" srcId="{62C43F26-6FB1-410E-9B6C-6EBF13BDFB1C}" destId="{760C8BD3-EC1E-40ED-9A86-412F54D9F18A}" srcOrd="2" destOrd="0" presId="urn:microsoft.com/office/officeart/2018/2/layout/IconVerticalSolidList"/>
    <dgm:cxn modelId="{0302EC10-F2B8-4568-93CF-601ED04CEC19}" type="presParOf" srcId="{760C8BD3-EC1E-40ED-9A86-412F54D9F18A}" destId="{D2C12B13-8CCC-45C9-BA77-D25DCB75F062}" srcOrd="0" destOrd="0" presId="urn:microsoft.com/office/officeart/2018/2/layout/IconVerticalSolidList"/>
    <dgm:cxn modelId="{88F3D17D-F2F3-4730-A4F7-2C0258860589}" type="presParOf" srcId="{760C8BD3-EC1E-40ED-9A86-412F54D9F18A}" destId="{FFBD4C7D-2BB1-4292-BC86-5EF00EE4C332}" srcOrd="1" destOrd="0" presId="urn:microsoft.com/office/officeart/2018/2/layout/IconVerticalSolidList"/>
    <dgm:cxn modelId="{55C6F83B-7CD0-49E5-9FCB-452ADE24FE2D}" type="presParOf" srcId="{760C8BD3-EC1E-40ED-9A86-412F54D9F18A}" destId="{6180406F-72C8-4DD4-8265-214B4ECAB7EC}" srcOrd="2" destOrd="0" presId="urn:microsoft.com/office/officeart/2018/2/layout/IconVerticalSolidList"/>
    <dgm:cxn modelId="{180AE73D-EF39-4172-95E4-419B9DC64F1C}" type="presParOf" srcId="{760C8BD3-EC1E-40ED-9A86-412F54D9F18A}" destId="{3F998596-AE76-4B63-BE1E-A4C097B51F09}" srcOrd="3" destOrd="0" presId="urn:microsoft.com/office/officeart/2018/2/layout/IconVerticalSolidList"/>
    <dgm:cxn modelId="{97BFA411-B6AE-4A81-81A1-F0DCAF8A8967}" type="presParOf" srcId="{62C43F26-6FB1-410E-9B6C-6EBF13BDFB1C}" destId="{E975D8FF-EEFB-4312-A8CA-6BAE8C6E6B08}" srcOrd="3" destOrd="0" presId="urn:microsoft.com/office/officeart/2018/2/layout/IconVerticalSolidList"/>
    <dgm:cxn modelId="{DD2C198D-C26C-42A9-AE65-AACFD761DDE8}" type="presParOf" srcId="{62C43F26-6FB1-410E-9B6C-6EBF13BDFB1C}" destId="{D6CB3709-C7A3-4EDF-80BE-2522E9EDB7E5}" srcOrd="4" destOrd="0" presId="urn:microsoft.com/office/officeart/2018/2/layout/IconVerticalSolidList"/>
    <dgm:cxn modelId="{A4D012B2-B0B1-4E36-ADA6-B90431925A83}" type="presParOf" srcId="{D6CB3709-C7A3-4EDF-80BE-2522E9EDB7E5}" destId="{883528F1-C70E-4494-9780-4856F90BE65F}" srcOrd="0" destOrd="0" presId="urn:microsoft.com/office/officeart/2018/2/layout/IconVerticalSolidList"/>
    <dgm:cxn modelId="{23E4435A-E57C-4C94-921A-1EA068226CFB}" type="presParOf" srcId="{D6CB3709-C7A3-4EDF-80BE-2522E9EDB7E5}" destId="{CD83FC1C-4AE9-474B-BFAF-919C2E3F7E1F}" srcOrd="1" destOrd="0" presId="urn:microsoft.com/office/officeart/2018/2/layout/IconVerticalSolidList"/>
    <dgm:cxn modelId="{F9CBDE57-4CA7-42F0-87CC-3B4D8CA9E7B4}" type="presParOf" srcId="{D6CB3709-C7A3-4EDF-80BE-2522E9EDB7E5}" destId="{35F17051-DAB5-4030-B3B1-95281E3304F7}" srcOrd="2" destOrd="0" presId="urn:microsoft.com/office/officeart/2018/2/layout/IconVerticalSolidList"/>
    <dgm:cxn modelId="{17DD9BA5-3719-4664-BD48-61672C74C35E}" type="presParOf" srcId="{D6CB3709-C7A3-4EDF-80BE-2522E9EDB7E5}" destId="{37E79117-B7FE-4518-96FE-15C77B5441C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A5F8FA0-5A02-4481-BAD7-1A55EFEB5005}"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948135F-7504-49D1-8BC4-5C64D88DC65C}">
      <dgm:prSet/>
      <dgm:spPr/>
      <dgm:t>
        <a:bodyPr/>
        <a:lstStyle/>
        <a:p>
          <a:r>
            <a:rPr lang="en-IN"/>
            <a:t>The private cloud setup on Oracle VirtualBox proved effective for creating a secure and reliable personal cloud. It showed how virtualization can support scalable infrastructure while ensuring user control. This reduces dependency on external providers.</a:t>
          </a:r>
          <a:endParaRPr lang="en-US"/>
        </a:p>
      </dgm:t>
    </dgm:pt>
    <dgm:pt modelId="{48520976-C707-400B-B0DE-88221EBAC205}" type="parTrans" cxnId="{7E8A879A-DA8E-4BC9-9103-DC8486EB4240}">
      <dgm:prSet/>
      <dgm:spPr/>
      <dgm:t>
        <a:bodyPr/>
        <a:lstStyle/>
        <a:p>
          <a:endParaRPr lang="en-US"/>
        </a:p>
      </dgm:t>
    </dgm:pt>
    <dgm:pt modelId="{38D4585F-A403-44BD-9B2B-2693C19BF290}" type="sibTrans" cxnId="{7E8A879A-DA8E-4BC9-9103-DC8486EB4240}">
      <dgm:prSet/>
      <dgm:spPr/>
      <dgm:t>
        <a:bodyPr/>
        <a:lstStyle/>
        <a:p>
          <a:endParaRPr lang="en-US"/>
        </a:p>
      </dgm:t>
    </dgm:pt>
    <dgm:pt modelId="{5EC39494-4B40-429B-8AEB-57DC2A9D1F5E}">
      <dgm:prSet/>
      <dgm:spPr/>
      <dgm:t>
        <a:bodyPr/>
        <a:lstStyle/>
        <a:p>
          <a:r>
            <a:rPr lang="en-IN"/>
            <a:t>Deploying Nextcloud on the LAMP stack demonstrated the power of open-source technologies in cloud services. It delivered features like file sharing and collaboration while maintaining data privacy. This makes it a strong alternative to commercial clouds.</a:t>
          </a:r>
          <a:endParaRPr lang="en-US"/>
        </a:p>
      </dgm:t>
    </dgm:pt>
    <dgm:pt modelId="{3A6F1B7B-8AA9-4DDE-A6AB-777C7B09EAF8}" type="parTrans" cxnId="{4712F9A2-7D12-409C-B5FA-7E695B0C6224}">
      <dgm:prSet/>
      <dgm:spPr/>
      <dgm:t>
        <a:bodyPr/>
        <a:lstStyle/>
        <a:p>
          <a:endParaRPr lang="en-US"/>
        </a:p>
      </dgm:t>
    </dgm:pt>
    <dgm:pt modelId="{973D94E7-0FF6-414A-882A-91285E29DCD8}" type="sibTrans" cxnId="{4712F9A2-7D12-409C-B5FA-7E695B0C6224}">
      <dgm:prSet/>
      <dgm:spPr/>
      <dgm:t>
        <a:bodyPr/>
        <a:lstStyle/>
        <a:p>
          <a:endParaRPr lang="en-US"/>
        </a:p>
      </dgm:t>
    </dgm:pt>
    <dgm:pt modelId="{0EC327AE-FD7C-465E-BFF9-23C5B476FFEF}">
      <dgm:prSet/>
      <dgm:spPr/>
      <dgm:t>
        <a:bodyPr/>
        <a:lstStyle/>
        <a:p>
          <a:r>
            <a:rPr lang="en-IN"/>
            <a:t>Cross-platform testing confirmed the system’s compatibility and smooth performance across devices. The user experience was close to that of commercial providers. At the same time, it offered stronger data sovereignty.</a:t>
          </a:r>
          <a:endParaRPr lang="en-US"/>
        </a:p>
      </dgm:t>
    </dgm:pt>
    <dgm:pt modelId="{6A540634-C4FF-4E5E-9C9D-768B0DACE910}" type="parTrans" cxnId="{84D415B0-9835-480B-8F5C-B528A6F579DC}">
      <dgm:prSet/>
      <dgm:spPr/>
      <dgm:t>
        <a:bodyPr/>
        <a:lstStyle/>
        <a:p>
          <a:endParaRPr lang="en-US"/>
        </a:p>
      </dgm:t>
    </dgm:pt>
    <dgm:pt modelId="{9A49825A-8020-49B4-8197-B0C9C6977F71}" type="sibTrans" cxnId="{84D415B0-9835-480B-8F5C-B528A6F579DC}">
      <dgm:prSet/>
      <dgm:spPr/>
      <dgm:t>
        <a:bodyPr/>
        <a:lstStyle/>
        <a:p>
          <a:endParaRPr lang="en-US"/>
        </a:p>
      </dgm:t>
    </dgm:pt>
    <dgm:pt modelId="{E23FCB88-08B9-4D50-83B7-183253267C03}">
      <dgm:prSet/>
      <dgm:spPr/>
      <dgm:t>
        <a:bodyPr/>
        <a:lstStyle/>
        <a:p>
          <a:r>
            <a:rPr lang="en-IN"/>
            <a:t>The project highlighted the feasibility and value of self-hosted cloud infrastructure. It gave hands-on knowledge of server management, database handling, and deployment. Security measures further strengthened its reliability.</a:t>
          </a:r>
          <a:endParaRPr lang="en-US"/>
        </a:p>
      </dgm:t>
    </dgm:pt>
    <dgm:pt modelId="{A7A4898B-6BD8-4961-8DB5-3DC11F4E2F13}" type="parTrans" cxnId="{9DCFF4BE-131E-4297-8B6B-9E01F2E38863}">
      <dgm:prSet/>
      <dgm:spPr/>
      <dgm:t>
        <a:bodyPr/>
        <a:lstStyle/>
        <a:p>
          <a:endParaRPr lang="en-US"/>
        </a:p>
      </dgm:t>
    </dgm:pt>
    <dgm:pt modelId="{323EFD91-AB07-4345-B61B-FDFFD838AE6E}" type="sibTrans" cxnId="{9DCFF4BE-131E-4297-8B6B-9E01F2E38863}">
      <dgm:prSet/>
      <dgm:spPr/>
      <dgm:t>
        <a:bodyPr/>
        <a:lstStyle/>
        <a:p>
          <a:endParaRPr lang="en-US"/>
        </a:p>
      </dgm:t>
    </dgm:pt>
    <dgm:pt modelId="{7B053FF9-5DEB-4C6D-8FC4-D98BC7C90BAA}" type="pres">
      <dgm:prSet presAssocID="{6A5F8FA0-5A02-4481-BAD7-1A55EFEB5005}" presName="root" presStyleCnt="0">
        <dgm:presLayoutVars>
          <dgm:dir/>
          <dgm:resizeHandles val="exact"/>
        </dgm:presLayoutVars>
      </dgm:prSet>
      <dgm:spPr/>
    </dgm:pt>
    <dgm:pt modelId="{E0E4AA9D-F8A2-437C-8F00-AC4C68754241}" type="pres">
      <dgm:prSet presAssocID="{6948135F-7504-49D1-8BC4-5C64D88DC65C}" presName="compNode" presStyleCnt="0"/>
      <dgm:spPr/>
    </dgm:pt>
    <dgm:pt modelId="{68B04D42-D873-40E8-A8B8-CBDADD9978C9}" type="pres">
      <dgm:prSet presAssocID="{6948135F-7504-49D1-8BC4-5C64D88DC65C}" presName="bgRect" presStyleLbl="bgShp" presStyleIdx="0" presStyleCnt="4"/>
      <dgm:spPr/>
    </dgm:pt>
    <dgm:pt modelId="{F7F01A49-15EC-4A28-A1A3-C5C4FA5C461D}" type="pres">
      <dgm:prSet presAssocID="{6948135F-7504-49D1-8BC4-5C64D88DC65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yncing Cloud"/>
        </a:ext>
      </dgm:extLst>
    </dgm:pt>
    <dgm:pt modelId="{C801487B-6384-4447-9AB7-095F81D1269D}" type="pres">
      <dgm:prSet presAssocID="{6948135F-7504-49D1-8BC4-5C64D88DC65C}" presName="spaceRect" presStyleCnt="0"/>
      <dgm:spPr/>
    </dgm:pt>
    <dgm:pt modelId="{2E3A1748-4E2D-451C-9A40-3155C8F1D4BA}" type="pres">
      <dgm:prSet presAssocID="{6948135F-7504-49D1-8BC4-5C64D88DC65C}" presName="parTx" presStyleLbl="revTx" presStyleIdx="0" presStyleCnt="4">
        <dgm:presLayoutVars>
          <dgm:chMax val="0"/>
          <dgm:chPref val="0"/>
        </dgm:presLayoutVars>
      </dgm:prSet>
      <dgm:spPr/>
    </dgm:pt>
    <dgm:pt modelId="{08C36005-0853-4C65-B29D-25A3C0ED4D77}" type="pres">
      <dgm:prSet presAssocID="{38D4585F-A403-44BD-9B2B-2693C19BF290}" presName="sibTrans" presStyleCnt="0"/>
      <dgm:spPr/>
    </dgm:pt>
    <dgm:pt modelId="{B9BDD747-D6EB-46DF-A332-34274E3C87A8}" type="pres">
      <dgm:prSet presAssocID="{5EC39494-4B40-429B-8AEB-57DC2A9D1F5E}" presName="compNode" presStyleCnt="0"/>
      <dgm:spPr/>
    </dgm:pt>
    <dgm:pt modelId="{942501B8-3E43-41B9-A81A-93F409692213}" type="pres">
      <dgm:prSet presAssocID="{5EC39494-4B40-429B-8AEB-57DC2A9D1F5E}" presName="bgRect" presStyleLbl="bgShp" presStyleIdx="1" presStyleCnt="4"/>
      <dgm:spPr/>
    </dgm:pt>
    <dgm:pt modelId="{F04D325B-F0DC-4993-8C33-C29BE40B8BAE}" type="pres">
      <dgm:prSet presAssocID="{5EC39494-4B40-429B-8AEB-57DC2A9D1F5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erver"/>
        </a:ext>
      </dgm:extLst>
    </dgm:pt>
    <dgm:pt modelId="{E54C943A-DB0D-4434-9FE4-BEC20C1DEDBD}" type="pres">
      <dgm:prSet presAssocID="{5EC39494-4B40-429B-8AEB-57DC2A9D1F5E}" presName="spaceRect" presStyleCnt="0"/>
      <dgm:spPr/>
    </dgm:pt>
    <dgm:pt modelId="{938483C6-E01D-4CD5-928C-A76DD81DBA38}" type="pres">
      <dgm:prSet presAssocID="{5EC39494-4B40-429B-8AEB-57DC2A9D1F5E}" presName="parTx" presStyleLbl="revTx" presStyleIdx="1" presStyleCnt="4">
        <dgm:presLayoutVars>
          <dgm:chMax val="0"/>
          <dgm:chPref val="0"/>
        </dgm:presLayoutVars>
      </dgm:prSet>
      <dgm:spPr/>
    </dgm:pt>
    <dgm:pt modelId="{0231788A-31C6-492D-856C-7C0A5B62B17B}" type="pres">
      <dgm:prSet presAssocID="{973D94E7-0FF6-414A-882A-91285E29DCD8}" presName="sibTrans" presStyleCnt="0"/>
      <dgm:spPr/>
    </dgm:pt>
    <dgm:pt modelId="{D82F48D7-F850-43F2-B424-7476589CE6F1}" type="pres">
      <dgm:prSet presAssocID="{0EC327AE-FD7C-465E-BFF9-23C5B476FFEF}" presName="compNode" presStyleCnt="0"/>
      <dgm:spPr/>
    </dgm:pt>
    <dgm:pt modelId="{E294DB4F-104D-422D-B1CF-26E882154B1A}" type="pres">
      <dgm:prSet presAssocID="{0EC327AE-FD7C-465E-BFF9-23C5B476FFEF}" presName="bgRect" presStyleLbl="bgShp" presStyleIdx="2" presStyleCnt="4"/>
      <dgm:spPr/>
    </dgm:pt>
    <dgm:pt modelId="{77CF5730-8D1D-4A94-B6A7-AAA61C32F99E}" type="pres">
      <dgm:prSet presAssocID="{0EC327AE-FD7C-465E-BFF9-23C5B476FFEF}"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eb Design"/>
        </a:ext>
      </dgm:extLst>
    </dgm:pt>
    <dgm:pt modelId="{1D0F9A20-CD96-4EC1-9BA5-6FB50F93BA0C}" type="pres">
      <dgm:prSet presAssocID="{0EC327AE-FD7C-465E-BFF9-23C5B476FFEF}" presName="spaceRect" presStyleCnt="0"/>
      <dgm:spPr/>
    </dgm:pt>
    <dgm:pt modelId="{C0251E6C-73FF-4AA6-B759-1033249FC241}" type="pres">
      <dgm:prSet presAssocID="{0EC327AE-FD7C-465E-BFF9-23C5B476FFEF}" presName="parTx" presStyleLbl="revTx" presStyleIdx="2" presStyleCnt="4">
        <dgm:presLayoutVars>
          <dgm:chMax val="0"/>
          <dgm:chPref val="0"/>
        </dgm:presLayoutVars>
      </dgm:prSet>
      <dgm:spPr/>
    </dgm:pt>
    <dgm:pt modelId="{EEA1E792-D774-4B53-88B0-740C275430C1}" type="pres">
      <dgm:prSet presAssocID="{9A49825A-8020-49B4-8197-B0C9C6977F71}" presName="sibTrans" presStyleCnt="0"/>
      <dgm:spPr/>
    </dgm:pt>
    <dgm:pt modelId="{82202F04-1BA2-4621-838F-6B3D8254719B}" type="pres">
      <dgm:prSet presAssocID="{E23FCB88-08B9-4D50-83B7-183253267C03}" presName="compNode" presStyleCnt="0"/>
      <dgm:spPr/>
    </dgm:pt>
    <dgm:pt modelId="{E4C58A12-E371-4193-9CF6-209688630FC3}" type="pres">
      <dgm:prSet presAssocID="{E23FCB88-08B9-4D50-83B7-183253267C03}" presName="bgRect" presStyleLbl="bgShp" presStyleIdx="3" presStyleCnt="4"/>
      <dgm:spPr/>
    </dgm:pt>
    <dgm:pt modelId="{C41DD1B8-7E04-42FF-AA9C-491D2CD6FA7B}" type="pres">
      <dgm:prSet presAssocID="{E23FCB88-08B9-4D50-83B7-183253267C0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rocessor"/>
        </a:ext>
      </dgm:extLst>
    </dgm:pt>
    <dgm:pt modelId="{FEA9D14F-D402-4AF1-A558-1D7ABB8F13BE}" type="pres">
      <dgm:prSet presAssocID="{E23FCB88-08B9-4D50-83B7-183253267C03}" presName="spaceRect" presStyleCnt="0"/>
      <dgm:spPr/>
    </dgm:pt>
    <dgm:pt modelId="{746C7124-C1E9-45AE-A353-3B6627C31CF6}" type="pres">
      <dgm:prSet presAssocID="{E23FCB88-08B9-4D50-83B7-183253267C03}" presName="parTx" presStyleLbl="revTx" presStyleIdx="3" presStyleCnt="4">
        <dgm:presLayoutVars>
          <dgm:chMax val="0"/>
          <dgm:chPref val="0"/>
        </dgm:presLayoutVars>
      </dgm:prSet>
      <dgm:spPr/>
    </dgm:pt>
  </dgm:ptLst>
  <dgm:cxnLst>
    <dgm:cxn modelId="{0B78E364-42A7-435F-A8FE-F2D97E873A16}" type="presOf" srcId="{6948135F-7504-49D1-8BC4-5C64D88DC65C}" destId="{2E3A1748-4E2D-451C-9A40-3155C8F1D4BA}" srcOrd="0" destOrd="0" presId="urn:microsoft.com/office/officeart/2018/2/layout/IconVerticalSolidList"/>
    <dgm:cxn modelId="{A3C7864E-4323-41F1-B508-3825494DCA9C}" type="presOf" srcId="{5EC39494-4B40-429B-8AEB-57DC2A9D1F5E}" destId="{938483C6-E01D-4CD5-928C-A76DD81DBA38}" srcOrd="0" destOrd="0" presId="urn:microsoft.com/office/officeart/2018/2/layout/IconVerticalSolidList"/>
    <dgm:cxn modelId="{0FA9CF76-C0E4-4861-95AE-46671FE5A1DF}" type="presOf" srcId="{6A5F8FA0-5A02-4481-BAD7-1A55EFEB5005}" destId="{7B053FF9-5DEB-4C6D-8FC4-D98BC7C90BAA}" srcOrd="0" destOrd="0" presId="urn:microsoft.com/office/officeart/2018/2/layout/IconVerticalSolidList"/>
    <dgm:cxn modelId="{AC616757-1C49-49FE-B577-DC0B21E38DF4}" type="presOf" srcId="{0EC327AE-FD7C-465E-BFF9-23C5B476FFEF}" destId="{C0251E6C-73FF-4AA6-B759-1033249FC241}" srcOrd="0" destOrd="0" presId="urn:microsoft.com/office/officeart/2018/2/layout/IconVerticalSolidList"/>
    <dgm:cxn modelId="{7E8A879A-DA8E-4BC9-9103-DC8486EB4240}" srcId="{6A5F8FA0-5A02-4481-BAD7-1A55EFEB5005}" destId="{6948135F-7504-49D1-8BC4-5C64D88DC65C}" srcOrd="0" destOrd="0" parTransId="{48520976-C707-400B-B0DE-88221EBAC205}" sibTransId="{38D4585F-A403-44BD-9B2B-2693C19BF290}"/>
    <dgm:cxn modelId="{C44425A2-0746-49D4-A30D-E051FD6EEB0A}" type="presOf" srcId="{E23FCB88-08B9-4D50-83B7-183253267C03}" destId="{746C7124-C1E9-45AE-A353-3B6627C31CF6}" srcOrd="0" destOrd="0" presId="urn:microsoft.com/office/officeart/2018/2/layout/IconVerticalSolidList"/>
    <dgm:cxn modelId="{4712F9A2-7D12-409C-B5FA-7E695B0C6224}" srcId="{6A5F8FA0-5A02-4481-BAD7-1A55EFEB5005}" destId="{5EC39494-4B40-429B-8AEB-57DC2A9D1F5E}" srcOrd="1" destOrd="0" parTransId="{3A6F1B7B-8AA9-4DDE-A6AB-777C7B09EAF8}" sibTransId="{973D94E7-0FF6-414A-882A-91285E29DCD8}"/>
    <dgm:cxn modelId="{84D415B0-9835-480B-8F5C-B528A6F579DC}" srcId="{6A5F8FA0-5A02-4481-BAD7-1A55EFEB5005}" destId="{0EC327AE-FD7C-465E-BFF9-23C5B476FFEF}" srcOrd="2" destOrd="0" parTransId="{6A540634-C4FF-4E5E-9C9D-768B0DACE910}" sibTransId="{9A49825A-8020-49B4-8197-B0C9C6977F71}"/>
    <dgm:cxn modelId="{9DCFF4BE-131E-4297-8B6B-9E01F2E38863}" srcId="{6A5F8FA0-5A02-4481-BAD7-1A55EFEB5005}" destId="{E23FCB88-08B9-4D50-83B7-183253267C03}" srcOrd="3" destOrd="0" parTransId="{A7A4898B-6BD8-4961-8DB5-3DC11F4E2F13}" sibTransId="{323EFD91-AB07-4345-B61B-FDFFD838AE6E}"/>
    <dgm:cxn modelId="{972D7616-E1CD-4E23-8D99-2754419FB412}" type="presParOf" srcId="{7B053FF9-5DEB-4C6D-8FC4-D98BC7C90BAA}" destId="{E0E4AA9D-F8A2-437C-8F00-AC4C68754241}" srcOrd="0" destOrd="0" presId="urn:microsoft.com/office/officeart/2018/2/layout/IconVerticalSolidList"/>
    <dgm:cxn modelId="{BA922E67-14DF-4C1A-B8E8-560F3AC7DFA3}" type="presParOf" srcId="{E0E4AA9D-F8A2-437C-8F00-AC4C68754241}" destId="{68B04D42-D873-40E8-A8B8-CBDADD9978C9}" srcOrd="0" destOrd="0" presId="urn:microsoft.com/office/officeart/2018/2/layout/IconVerticalSolidList"/>
    <dgm:cxn modelId="{DBDE81D3-63AF-41C2-BE68-BC3F1FAA742E}" type="presParOf" srcId="{E0E4AA9D-F8A2-437C-8F00-AC4C68754241}" destId="{F7F01A49-15EC-4A28-A1A3-C5C4FA5C461D}" srcOrd="1" destOrd="0" presId="urn:microsoft.com/office/officeart/2018/2/layout/IconVerticalSolidList"/>
    <dgm:cxn modelId="{B8724F06-0ABB-4CD5-975F-736DC3506292}" type="presParOf" srcId="{E0E4AA9D-F8A2-437C-8F00-AC4C68754241}" destId="{C801487B-6384-4447-9AB7-095F81D1269D}" srcOrd="2" destOrd="0" presId="urn:microsoft.com/office/officeart/2018/2/layout/IconVerticalSolidList"/>
    <dgm:cxn modelId="{D85F82F2-FB6E-4469-8D36-9D6CF1EB712B}" type="presParOf" srcId="{E0E4AA9D-F8A2-437C-8F00-AC4C68754241}" destId="{2E3A1748-4E2D-451C-9A40-3155C8F1D4BA}" srcOrd="3" destOrd="0" presId="urn:microsoft.com/office/officeart/2018/2/layout/IconVerticalSolidList"/>
    <dgm:cxn modelId="{AB4F43FD-75C5-49DF-A496-5B421E2B792F}" type="presParOf" srcId="{7B053FF9-5DEB-4C6D-8FC4-D98BC7C90BAA}" destId="{08C36005-0853-4C65-B29D-25A3C0ED4D77}" srcOrd="1" destOrd="0" presId="urn:microsoft.com/office/officeart/2018/2/layout/IconVerticalSolidList"/>
    <dgm:cxn modelId="{09241F07-931C-41A7-9C2C-CF60A9AA31E9}" type="presParOf" srcId="{7B053FF9-5DEB-4C6D-8FC4-D98BC7C90BAA}" destId="{B9BDD747-D6EB-46DF-A332-34274E3C87A8}" srcOrd="2" destOrd="0" presId="urn:microsoft.com/office/officeart/2018/2/layout/IconVerticalSolidList"/>
    <dgm:cxn modelId="{90C2656E-CFAD-4F12-A4DF-1E6EC4F260E4}" type="presParOf" srcId="{B9BDD747-D6EB-46DF-A332-34274E3C87A8}" destId="{942501B8-3E43-41B9-A81A-93F409692213}" srcOrd="0" destOrd="0" presId="urn:microsoft.com/office/officeart/2018/2/layout/IconVerticalSolidList"/>
    <dgm:cxn modelId="{2D48A330-78E0-4BD2-9BF5-A4B3F4195ADE}" type="presParOf" srcId="{B9BDD747-D6EB-46DF-A332-34274E3C87A8}" destId="{F04D325B-F0DC-4993-8C33-C29BE40B8BAE}" srcOrd="1" destOrd="0" presId="urn:microsoft.com/office/officeart/2018/2/layout/IconVerticalSolidList"/>
    <dgm:cxn modelId="{44633D54-9724-4BB7-B743-CCE070AD43C2}" type="presParOf" srcId="{B9BDD747-D6EB-46DF-A332-34274E3C87A8}" destId="{E54C943A-DB0D-4434-9FE4-BEC20C1DEDBD}" srcOrd="2" destOrd="0" presId="urn:microsoft.com/office/officeart/2018/2/layout/IconVerticalSolidList"/>
    <dgm:cxn modelId="{6297D9F7-6328-4E81-B4BC-93E9FF98849C}" type="presParOf" srcId="{B9BDD747-D6EB-46DF-A332-34274E3C87A8}" destId="{938483C6-E01D-4CD5-928C-A76DD81DBA38}" srcOrd="3" destOrd="0" presId="urn:microsoft.com/office/officeart/2018/2/layout/IconVerticalSolidList"/>
    <dgm:cxn modelId="{40E2BC4C-1353-42CE-9354-F60254F3B96F}" type="presParOf" srcId="{7B053FF9-5DEB-4C6D-8FC4-D98BC7C90BAA}" destId="{0231788A-31C6-492D-856C-7C0A5B62B17B}" srcOrd="3" destOrd="0" presId="urn:microsoft.com/office/officeart/2018/2/layout/IconVerticalSolidList"/>
    <dgm:cxn modelId="{642C42DB-D9AF-4784-BEE6-424394CBCCE0}" type="presParOf" srcId="{7B053FF9-5DEB-4C6D-8FC4-D98BC7C90BAA}" destId="{D82F48D7-F850-43F2-B424-7476589CE6F1}" srcOrd="4" destOrd="0" presId="urn:microsoft.com/office/officeart/2018/2/layout/IconVerticalSolidList"/>
    <dgm:cxn modelId="{0307A24A-A1CC-47B4-B29A-9DD7B293D958}" type="presParOf" srcId="{D82F48D7-F850-43F2-B424-7476589CE6F1}" destId="{E294DB4F-104D-422D-B1CF-26E882154B1A}" srcOrd="0" destOrd="0" presId="urn:microsoft.com/office/officeart/2018/2/layout/IconVerticalSolidList"/>
    <dgm:cxn modelId="{9C05EA4C-D395-4EAD-9D8A-73D1532A3A60}" type="presParOf" srcId="{D82F48D7-F850-43F2-B424-7476589CE6F1}" destId="{77CF5730-8D1D-4A94-B6A7-AAA61C32F99E}" srcOrd="1" destOrd="0" presId="urn:microsoft.com/office/officeart/2018/2/layout/IconVerticalSolidList"/>
    <dgm:cxn modelId="{61E81036-14E4-4356-B8C8-5F87385D0F87}" type="presParOf" srcId="{D82F48D7-F850-43F2-B424-7476589CE6F1}" destId="{1D0F9A20-CD96-4EC1-9BA5-6FB50F93BA0C}" srcOrd="2" destOrd="0" presId="urn:microsoft.com/office/officeart/2018/2/layout/IconVerticalSolidList"/>
    <dgm:cxn modelId="{B525D1AF-4216-4A1C-BE37-0063B326E455}" type="presParOf" srcId="{D82F48D7-F850-43F2-B424-7476589CE6F1}" destId="{C0251E6C-73FF-4AA6-B759-1033249FC241}" srcOrd="3" destOrd="0" presId="urn:microsoft.com/office/officeart/2018/2/layout/IconVerticalSolidList"/>
    <dgm:cxn modelId="{81BBE9E5-82AA-4531-89A4-F2B7E918E149}" type="presParOf" srcId="{7B053FF9-5DEB-4C6D-8FC4-D98BC7C90BAA}" destId="{EEA1E792-D774-4B53-88B0-740C275430C1}" srcOrd="5" destOrd="0" presId="urn:microsoft.com/office/officeart/2018/2/layout/IconVerticalSolidList"/>
    <dgm:cxn modelId="{DE685D55-1ADC-4E07-9753-D15E2E9C104D}" type="presParOf" srcId="{7B053FF9-5DEB-4C6D-8FC4-D98BC7C90BAA}" destId="{82202F04-1BA2-4621-838F-6B3D8254719B}" srcOrd="6" destOrd="0" presId="urn:microsoft.com/office/officeart/2018/2/layout/IconVerticalSolidList"/>
    <dgm:cxn modelId="{93AEA746-72EB-4876-A20C-6D3259927F73}" type="presParOf" srcId="{82202F04-1BA2-4621-838F-6B3D8254719B}" destId="{E4C58A12-E371-4193-9CF6-209688630FC3}" srcOrd="0" destOrd="0" presId="urn:microsoft.com/office/officeart/2018/2/layout/IconVerticalSolidList"/>
    <dgm:cxn modelId="{BF4DEF96-60CB-4A8B-9CAB-8BAC9ACD2B9F}" type="presParOf" srcId="{82202F04-1BA2-4621-838F-6B3D8254719B}" destId="{C41DD1B8-7E04-42FF-AA9C-491D2CD6FA7B}" srcOrd="1" destOrd="0" presId="urn:microsoft.com/office/officeart/2018/2/layout/IconVerticalSolidList"/>
    <dgm:cxn modelId="{D02ED899-A391-4710-A0EA-C67225306AA2}" type="presParOf" srcId="{82202F04-1BA2-4621-838F-6B3D8254719B}" destId="{FEA9D14F-D402-4AF1-A558-1D7ABB8F13BE}" srcOrd="2" destOrd="0" presId="urn:microsoft.com/office/officeart/2018/2/layout/IconVerticalSolidList"/>
    <dgm:cxn modelId="{F5E96695-6E71-4B25-B4D1-B7DDDB52F746}" type="presParOf" srcId="{82202F04-1BA2-4621-838F-6B3D8254719B}" destId="{746C7124-C1E9-45AE-A353-3B6627C31CF6}"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607CEA-CD37-43CF-BA44-2320831365D8}">
      <dsp:nvSpPr>
        <dsp:cNvPr id="0" name=""/>
        <dsp:cNvSpPr/>
      </dsp:nvSpPr>
      <dsp:spPr>
        <a:xfrm>
          <a:off x="0" y="622"/>
          <a:ext cx="10820400" cy="145762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610F9E4-10F1-4519-95B2-6A7EBF73506F}">
      <dsp:nvSpPr>
        <dsp:cNvPr id="0" name=""/>
        <dsp:cNvSpPr/>
      </dsp:nvSpPr>
      <dsp:spPr>
        <a:xfrm>
          <a:off x="440932" y="328589"/>
          <a:ext cx="801694" cy="80169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3AFB6D7-6E4F-4A2A-AD83-20AB8B4A9663}">
      <dsp:nvSpPr>
        <dsp:cNvPr id="0" name=""/>
        <dsp:cNvSpPr/>
      </dsp:nvSpPr>
      <dsp:spPr>
        <a:xfrm>
          <a:off x="1683559" y="622"/>
          <a:ext cx="9136840" cy="1457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4266" tIns="154266" rIns="154266" bIns="154266" numCol="1" spcCol="1270" anchor="ctr" anchorCtr="0">
          <a:noAutofit/>
        </a:bodyPr>
        <a:lstStyle/>
        <a:p>
          <a:pPr marL="0" lvl="0" indent="0" algn="l" defTabSz="666750">
            <a:lnSpc>
              <a:spcPct val="100000"/>
            </a:lnSpc>
            <a:spcBef>
              <a:spcPct val="0"/>
            </a:spcBef>
            <a:spcAft>
              <a:spcPct val="35000"/>
            </a:spcAft>
            <a:buNone/>
          </a:pPr>
          <a:r>
            <a:rPr lang="en-IN" sz="1500" kern="1200"/>
            <a:t>To showcase Nextcloud’s cloud storage capabilities, including secure file storage, sharing, and collaboration, while ensuring complete control over data. The implementation will involve server setup, database configuration, web server deployment, and security hardening. This will result in a production-ready private cloud environment.</a:t>
          </a:r>
          <a:endParaRPr lang="en-US" sz="1500" kern="1200"/>
        </a:p>
      </dsp:txBody>
      <dsp:txXfrm>
        <a:off x="1683559" y="622"/>
        <a:ext cx="9136840" cy="1457627"/>
      </dsp:txXfrm>
    </dsp:sp>
    <dsp:sp modelId="{D2C12B13-8CCC-45C9-BA77-D25DCB75F062}">
      <dsp:nvSpPr>
        <dsp:cNvPr id="0" name=""/>
        <dsp:cNvSpPr/>
      </dsp:nvSpPr>
      <dsp:spPr>
        <a:xfrm>
          <a:off x="0" y="1822656"/>
          <a:ext cx="10820400" cy="145762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BD4C7D-2BB1-4292-BC86-5EF00EE4C332}">
      <dsp:nvSpPr>
        <dsp:cNvPr id="0" name=""/>
        <dsp:cNvSpPr/>
      </dsp:nvSpPr>
      <dsp:spPr>
        <a:xfrm>
          <a:off x="440932" y="2150623"/>
          <a:ext cx="801694" cy="8016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F998596-AE76-4B63-BE1E-A4C097B51F09}">
      <dsp:nvSpPr>
        <dsp:cNvPr id="0" name=""/>
        <dsp:cNvSpPr/>
      </dsp:nvSpPr>
      <dsp:spPr>
        <a:xfrm>
          <a:off x="1683559" y="1822656"/>
          <a:ext cx="9136840" cy="1457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4266" tIns="154266" rIns="154266" bIns="154266" numCol="1" spcCol="1270" anchor="ctr" anchorCtr="0">
          <a:noAutofit/>
        </a:bodyPr>
        <a:lstStyle/>
        <a:p>
          <a:pPr marL="0" lvl="0" indent="0" algn="l" defTabSz="666750">
            <a:lnSpc>
              <a:spcPct val="100000"/>
            </a:lnSpc>
            <a:spcBef>
              <a:spcPct val="0"/>
            </a:spcBef>
            <a:spcAft>
              <a:spcPct val="35000"/>
            </a:spcAft>
            <a:buNone/>
          </a:pPr>
          <a:r>
            <a:rPr lang="en-IN" sz="1500" kern="1200"/>
            <a:t>To validate cross-platform accessibility by testing the system across different devices and operating systems. This demonstration will confirm the practicality of self-hosted cloud solutions. It will also highlight the benefits of data sovereignty, privacy control, and cost-effectiveness over commercial providers.</a:t>
          </a:r>
          <a:endParaRPr lang="en-US" sz="1500" kern="1200"/>
        </a:p>
      </dsp:txBody>
      <dsp:txXfrm>
        <a:off x="1683559" y="1822656"/>
        <a:ext cx="9136840" cy="1457627"/>
      </dsp:txXfrm>
    </dsp:sp>
    <dsp:sp modelId="{883528F1-C70E-4494-9780-4856F90BE65F}">
      <dsp:nvSpPr>
        <dsp:cNvPr id="0" name=""/>
        <dsp:cNvSpPr/>
      </dsp:nvSpPr>
      <dsp:spPr>
        <a:xfrm>
          <a:off x="0" y="3644690"/>
          <a:ext cx="10820400" cy="145762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83FC1C-4AE9-474B-BFAF-919C2E3F7E1F}">
      <dsp:nvSpPr>
        <dsp:cNvPr id="0" name=""/>
        <dsp:cNvSpPr/>
      </dsp:nvSpPr>
      <dsp:spPr>
        <a:xfrm>
          <a:off x="440932" y="3972657"/>
          <a:ext cx="801694" cy="80169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7E79117-B7FE-4518-96FE-15C77B5441C8}">
      <dsp:nvSpPr>
        <dsp:cNvPr id="0" name=""/>
        <dsp:cNvSpPr/>
      </dsp:nvSpPr>
      <dsp:spPr>
        <a:xfrm>
          <a:off x="1683559" y="3644690"/>
          <a:ext cx="9136840" cy="1457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4266" tIns="154266" rIns="154266" bIns="154266" numCol="1" spcCol="1270" anchor="ctr" anchorCtr="0">
          <a:noAutofit/>
        </a:bodyPr>
        <a:lstStyle/>
        <a:p>
          <a:pPr marL="0" lvl="0" indent="0" algn="l" defTabSz="666750">
            <a:lnSpc>
              <a:spcPct val="100000"/>
            </a:lnSpc>
            <a:spcBef>
              <a:spcPct val="0"/>
            </a:spcBef>
            <a:spcAft>
              <a:spcPct val="35000"/>
            </a:spcAft>
            <a:buNone/>
          </a:pPr>
          <a:r>
            <a:rPr lang="en-IN" sz="1500" kern="1200"/>
            <a:t>To provide participants with a comprehensive understanding of private cloud implementation. This includes server management, web application deployment, and key security practices. By the end, participants will recognize the practical advantages of controlling their own cloud infrastructure and data storage.</a:t>
          </a:r>
          <a:endParaRPr lang="en-US" sz="1500" kern="1200"/>
        </a:p>
      </dsp:txBody>
      <dsp:txXfrm>
        <a:off x="1683559" y="3644690"/>
        <a:ext cx="9136840" cy="145762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B04D42-D873-40E8-A8B8-CBDADD9978C9}">
      <dsp:nvSpPr>
        <dsp:cNvPr id="0" name=""/>
        <dsp:cNvSpPr/>
      </dsp:nvSpPr>
      <dsp:spPr>
        <a:xfrm>
          <a:off x="0" y="4918"/>
          <a:ext cx="6290226" cy="104669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F01A49-15EC-4A28-A1A3-C5C4FA5C461D}">
      <dsp:nvSpPr>
        <dsp:cNvPr id="0" name=""/>
        <dsp:cNvSpPr/>
      </dsp:nvSpPr>
      <dsp:spPr>
        <a:xfrm>
          <a:off x="316625" y="240425"/>
          <a:ext cx="576244" cy="57568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E3A1748-4E2D-451C-9A40-3155C8F1D4BA}">
      <dsp:nvSpPr>
        <dsp:cNvPr id="0" name=""/>
        <dsp:cNvSpPr/>
      </dsp:nvSpPr>
      <dsp:spPr>
        <a:xfrm>
          <a:off x="1209495" y="4918"/>
          <a:ext cx="5026088" cy="11448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160" tIns="121160" rIns="121160" bIns="121160" numCol="1" spcCol="1270" anchor="ctr" anchorCtr="0">
          <a:noAutofit/>
        </a:bodyPr>
        <a:lstStyle/>
        <a:p>
          <a:pPr marL="0" lvl="0" indent="0" algn="l" defTabSz="622300">
            <a:lnSpc>
              <a:spcPct val="90000"/>
            </a:lnSpc>
            <a:spcBef>
              <a:spcPct val="0"/>
            </a:spcBef>
            <a:spcAft>
              <a:spcPct val="35000"/>
            </a:spcAft>
            <a:buNone/>
          </a:pPr>
          <a:r>
            <a:rPr lang="en-IN" sz="1400" kern="1200"/>
            <a:t>The private cloud setup on Oracle VirtualBox proved effective for creating a secure and reliable personal cloud. It showed how virtualization can support scalable infrastructure while ensuring user control. This reduces dependency on external providers.</a:t>
          </a:r>
          <a:endParaRPr lang="en-US" sz="1400" kern="1200"/>
        </a:p>
      </dsp:txBody>
      <dsp:txXfrm>
        <a:off x="1209495" y="4918"/>
        <a:ext cx="5026088" cy="1144822"/>
      </dsp:txXfrm>
    </dsp:sp>
    <dsp:sp modelId="{942501B8-3E43-41B9-A81A-93F409692213}">
      <dsp:nvSpPr>
        <dsp:cNvPr id="0" name=""/>
        <dsp:cNvSpPr/>
      </dsp:nvSpPr>
      <dsp:spPr>
        <a:xfrm>
          <a:off x="0" y="1435947"/>
          <a:ext cx="6290226" cy="104669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4D325B-F0DC-4993-8C33-C29BE40B8BAE}">
      <dsp:nvSpPr>
        <dsp:cNvPr id="0" name=""/>
        <dsp:cNvSpPr/>
      </dsp:nvSpPr>
      <dsp:spPr>
        <a:xfrm>
          <a:off x="316625" y="1671453"/>
          <a:ext cx="576244" cy="57568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38483C6-E01D-4CD5-928C-A76DD81DBA38}">
      <dsp:nvSpPr>
        <dsp:cNvPr id="0" name=""/>
        <dsp:cNvSpPr/>
      </dsp:nvSpPr>
      <dsp:spPr>
        <a:xfrm>
          <a:off x="1209495" y="1435947"/>
          <a:ext cx="5026088" cy="11448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160" tIns="121160" rIns="121160" bIns="121160" numCol="1" spcCol="1270" anchor="ctr" anchorCtr="0">
          <a:noAutofit/>
        </a:bodyPr>
        <a:lstStyle/>
        <a:p>
          <a:pPr marL="0" lvl="0" indent="0" algn="l" defTabSz="622300">
            <a:lnSpc>
              <a:spcPct val="90000"/>
            </a:lnSpc>
            <a:spcBef>
              <a:spcPct val="0"/>
            </a:spcBef>
            <a:spcAft>
              <a:spcPct val="35000"/>
            </a:spcAft>
            <a:buNone/>
          </a:pPr>
          <a:r>
            <a:rPr lang="en-IN" sz="1400" kern="1200"/>
            <a:t>Deploying Nextcloud on the LAMP stack demonstrated the power of open-source technologies in cloud services. It delivered features like file sharing and collaboration while maintaining data privacy. This makes it a strong alternative to commercial clouds.</a:t>
          </a:r>
          <a:endParaRPr lang="en-US" sz="1400" kern="1200"/>
        </a:p>
      </dsp:txBody>
      <dsp:txXfrm>
        <a:off x="1209495" y="1435947"/>
        <a:ext cx="5026088" cy="1144822"/>
      </dsp:txXfrm>
    </dsp:sp>
    <dsp:sp modelId="{E294DB4F-104D-422D-B1CF-26E882154B1A}">
      <dsp:nvSpPr>
        <dsp:cNvPr id="0" name=""/>
        <dsp:cNvSpPr/>
      </dsp:nvSpPr>
      <dsp:spPr>
        <a:xfrm>
          <a:off x="0" y="2866975"/>
          <a:ext cx="6290226" cy="104669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CF5730-8D1D-4A94-B6A7-AAA61C32F99E}">
      <dsp:nvSpPr>
        <dsp:cNvPr id="0" name=""/>
        <dsp:cNvSpPr/>
      </dsp:nvSpPr>
      <dsp:spPr>
        <a:xfrm>
          <a:off x="316625" y="3102481"/>
          <a:ext cx="576244" cy="57568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0251E6C-73FF-4AA6-B759-1033249FC241}">
      <dsp:nvSpPr>
        <dsp:cNvPr id="0" name=""/>
        <dsp:cNvSpPr/>
      </dsp:nvSpPr>
      <dsp:spPr>
        <a:xfrm>
          <a:off x="1209495" y="2866975"/>
          <a:ext cx="5026088" cy="11448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160" tIns="121160" rIns="121160" bIns="121160" numCol="1" spcCol="1270" anchor="ctr" anchorCtr="0">
          <a:noAutofit/>
        </a:bodyPr>
        <a:lstStyle/>
        <a:p>
          <a:pPr marL="0" lvl="0" indent="0" algn="l" defTabSz="622300">
            <a:lnSpc>
              <a:spcPct val="90000"/>
            </a:lnSpc>
            <a:spcBef>
              <a:spcPct val="0"/>
            </a:spcBef>
            <a:spcAft>
              <a:spcPct val="35000"/>
            </a:spcAft>
            <a:buNone/>
          </a:pPr>
          <a:r>
            <a:rPr lang="en-IN" sz="1400" kern="1200"/>
            <a:t>Cross-platform testing confirmed the system’s compatibility and smooth performance across devices. The user experience was close to that of commercial providers. At the same time, it offered stronger data sovereignty.</a:t>
          </a:r>
          <a:endParaRPr lang="en-US" sz="1400" kern="1200"/>
        </a:p>
      </dsp:txBody>
      <dsp:txXfrm>
        <a:off x="1209495" y="2866975"/>
        <a:ext cx="5026088" cy="1144822"/>
      </dsp:txXfrm>
    </dsp:sp>
    <dsp:sp modelId="{E4C58A12-E371-4193-9CF6-209688630FC3}">
      <dsp:nvSpPr>
        <dsp:cNvPr id="0" name=""/>
        <dsp:cNvSpPr/>
      </dsp:nvSpPr>
      <dsp:spPr>
        <a:xfrm>
          <a:off x="0" y="4298003"/>
          <a:ext cx="6290226" cy="104669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1DD1B8-7E04-42FF-AA9C-491D2CD6FA7B}">
      <dsp:nvSpPr>
        <dsp:cNvPr id="0" name=""/>
        <dsp:cNvSpPr/>
      </dsp:nvSpPr>
      <dsp:spPr>
        <a:xfrm>
          <a:off x="316625" y="4533509"/>
          <a:ext cx="576244" cy="57568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46C7124-C1E9-45AE-A353-3B6627C31CF6}">
      <dsp:nvSpPr>
        <dsp:cNvPr id="0" name=""/>
        <dsp:cNvSpPr/>
      </dsp:nvSpPr>
      <dsp:spPr>
        <a:xfrm>
          <a:off x="1209495" y="4298003"/>
          <a:ext cx="5026088" cy="11448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160" tIns="121160" rIns="121160" bIns="121160" numCol="1" spcCol="1270" anchor="ctr" anchorCtr="0">
          <a:noAutofit/>
        </a:bodyPr>
        <a:lstStyle/>
        <a:p>
          <a:pPr marL="0" lvl="0" indent="0" algn="l" defTabSz="622300">
            <a:lnSpc>
              <a:spcPct val="90000"/>
            </a:lnSpc>
            <a:spcBef>
              <a:spcPct val="0"/>
            </a:spcBef>
            <a:spcAft>
              <a:spcPct val="35000"/>
            </a:spcAft>
            <a:buNone/>
          </a:pPr>
          <a:r>
            <a:rPr lang="en-IN" sz="1400" kern="1200"/>
            <a:t>The project highlighted the feasibility and value of self-hosted cloud infrastructure. It gave hands-on knowledge of server management, database handling, and deployment. Security measures further strengthened its reliability.</a:t>
          </a:r>
          <a:endParaRPr lang="en-US" sz="1400" kern="1200"/>
        </a:p>
      </dsp:txBody>
      <dsp:txXfrm>
        <a:off x="1209495" y="4298003"/>
        <a:ext cx="5026088" cy="114482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7E05DD7A-B8AD-40D3-81F1-D98B152FC513}" type="datetimeFigureOut">
              <a:rPr lang="en-IN" smtClean="0"/>
              <a:t>28-08-2025</a:t>
            </a:fld>
            <a:endParaRPr lang="en-IN"/>
          </a:p>
        </p:txBody>
      </p:sp>
      <p:sp>
        <p:nvSpPr>
          <p:cNvPr id="5" name="Footer Placeholder 4"/>
          <p:cNvSpPr>
            <a:spLocks noGrp="1"/>
          </p:cNvSpPr>
          <p:nvPr>
            <p:ph type="ftr" sz="quarter" idx="11"/>
          </p:nvPr>
        </p:nvSpPr>
        <p:spPr>
          <a:xfrm>
            <a:off x="1371600" y="4323845"/>
            <a:ext cx="6400800" cy="365125"/>
          </a:xfrm>
        </p:spPr>
        <p:txBody>
          <a:bodyPr/>
          <a:lstStyle/>
          <a:p>
            <a:endParaRPr lang="en-IN"/>
          </a:p>
        </p:txBody>
      </p:sp>
      <p:sp>
        <p:nvSpPr>
          <p:cNvPr id="6" name="Slide Number Placeholder 5"/>
          <p:cNvSpPr>
            <a:spLocks noGrp="1"/>
          </p:cNvSpPr>
          <p:nvPr>
            <p:ph type="sldNum" sz="quarter" idx="12"/>
          </p:nvPr>
        </p:nvSpPr>
        <p:spPr>
          <a:xfrm>
            <a:off x="8077200" y="1430866"/>
            <a:ext cx="2743200" cy="365125"/>
          </a:xfrm>
        </p:spPr>
        <p:txBody>
          <a:bodyPr/>
          <a:lstStyle/>
          <a:p>
            <a:fld id="{166E2A3A-5DF1-4BE8-9C37-CFE7B9544D7E}" type="slidenum">
              <a:rPr lang="en-IN" smtClean="0"/>
              <a:t>‹#›</a:t>
            </a:fld>
            <a:endParaRPr lang="en-IN"/>
          </a:p>
        </p:txBody>
      </p:sp>
    </p:spTree>
    <p:extLst>
      <p:ext uri="{BB962C8B-B14F-4D97-AF65-F5344CB8AC3E}">
        <p14:creationId xmlns:p14="http://schemas.microsoft.com/office/powerpoint/2010/main" val="16509820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05DD7A-B8AD-40D3-81F1-D98B152FC513}" type="datetimeFigureOut">
              <a:rPr lang="en-IN" smtClean="0"/>
              <a:t>28-08-2025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6E2A3A-5DF1-4BE8-9C37-CFE7B9544D7E}" type="slidenum">
              <a:rPr lang="en-IN" smtClean="0"/>
              <a:t>‹#›</a:t>
            </a:fld>
            <a:endParaRPr lang="en-IN"/>
          </a:p>
        </p:txBody>
      </p:sp>
    </p:spTree>
    <p:extLst>
      <p:ext uri="{BB962C8B-B14F-4D97-AF65-F5344CB8AC3E}">
        <p14:creationId xmlns:p14="http://schemas.microsoft.com/office/powerpoint/2010/main" val="3479610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7E05DD7A-B8AD-40D3-81F1-D98B152FC513}" type="datetimeFigureOut">
              <a:rPr lang="en-IN" smtClean="0"/>
              <a:t>28-08-2025</a:t>
            </a:fld>
            <a:endParaRPr lang="en-IN"/>
          </a:p>
        </p:txBody>
      </p:sp>
      <p:sp>
        <p:nvSpPr>
          <p:cNvPr id="5" name="Footer Placeholder 4"/>
          <p:cNvSpPr>
            <a:spLocks noGrp="1"/>
          </p:cNvSpPr>
          <p:nvPr>
            <p:ph type="ftr" sz="quarter" idx="11"/>
          </p:nvPr>
        </p:nvSpPr>
        <p:spPr>
          <a:xfrm>
            <a:off x="685800" y="381001"/>
            <a:ext cx="6991492" cy="36406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166E2A3A-5DF1-4BE8-9C37-CFE7B9544D7E}" type="slidenum">
              <a:rPr lang="en-IN" smtClean="0"/>
              <a:t>‹#›</a:t>
            </a:fld>
            <a:endParaRPr lang="en-IN"/>
          </a:p>
        </p:txBody>
      </p:sp>
    </p:spTree>
    <p:extLst>
      <p:ext uri="{BB962C8B-B14F-4D97-AF65-F5344CB8AC3E}">
        <p14:creationId xmlns:p14="http://schemas.microsoft.com/office/powerpoint/2010/main" val="782284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E05DD7A-B8AD-40D3-81F1-D98B152FC513}" type="datetimeFigureOut">
              <a:rPr lang="en-IN" smtClean="0"/>
              <a:t>28-08-2025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6E2A3A-5DF1-4BE8-9C37-CFE7B9544D7E}" type="slidenum">
              <a:rPr lang="en-IN" smtClean="0"/>
              <a:t>‹#›</a:t>
            </a:fld>
            <a:endParaRPr lang="en-IN"/>
          </a:p>
        </p:txBody>
      </p:sp>
    </p:spTree>
    <p:extLst>
      <p:ext uri="{BB962C8B-B14F-4D97-AF65-F5344CB8AC3E}">
        <p14:creationId xmlns:p14="http://schemas.microsoft.com/office/powerpoint/2010/main" val="39785952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E05DD7A-B8AD-40D3-81F1-D98B152FC513}" type="datetimeFigureOut">
              <a:rPr lang="en-IN" smtClean="0"/>
              <a:t>28-08-2025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66E2A3A-5DF1-4BE8-9C37-CFE7B9544D7E}" type="slidenum">
              <a:rPr lang="en-IN" smtClean="0"/>
              <a:t>‹#›</a:t>
            </a:fld>
            <a:endParaRPr lang="en-IN"/>
          </a:p>
        </p:txBody>
      </p:sp>
    </p:spTree>
    <p:extLst>
      <p:ext uri="{BB962C8B-B14F-4D97-AF65-F5344CB8AC3E}">
        <p14:creationId xmlns:p14="http://schemas.microsoft.com/office/powerpoint/2010/main" val="53532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E05DD7A-B8AD-40D3-81F1-D98B152FC513}" type="datetimeFigureOut">
              <a:rPr lang="en-IN" smtClean="0"/>
              <a:t>28-08-2025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66E2A3A-5DF1-4BE8-9C37-CFE7B9544D7E}" type="slidenum">
              <a:rPr lang="en-IN" smtClean="0"/>
              <a:t>‹#›</a:t>
            </a:fld>
            <a:endParaRPr lang="en-IN"/>
          </a:p>
        </p:txBody>
      </p:sp>
    </p:spTree>
    <p:extLst>
      <p:ext uri="{BB962C8B-B14F-4D97-AF65-F5344CB8AC3E}">
        <p14:creationId xmlns:p14="http://schemas.microsoft.com/office/powerpoint/2010/main" val="8541632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05DD7A-B8AD-40D3-81F1-D98B152FC513}" type="datetimeFigureOut">
              <a:rPr lang="en-IN" smtClean="0"/>
              <a:t>28-08-2025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66E2A3A-5DF1-4BE8-9C37-CFE7B9544D7E}" type="slidenum">
              <a:rPr lang="en-IN" smtClean="0"/>
              <a:t>‹#›</a:t>
            </a:fld>
            <a:endParaRPr lang="en-IN"/>
          </a:p>
        </p:txBody>
      </p:sp>
    </p:spTree>
    <p:extLst>
      <p:ext uri="{BB962C8B-B14F-4D97-AF65-F5344CB8AC3E}">
        <p14:creationId xmlns:p14="http://schemas.microsoft.com/office/powerpoint/2010/main" val="2791828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05DD7A-B8AD-40D3-81F1-D98B152FC513}" type="datetimeFigureOut">
              <a:rPr lang="en-IN" smtClean="0"/>
              <a:t>28-08-2025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6E2A3A-5DF1-4BE8-9C37-CFE7B9544D7E}" type="slidenum">
              <a:rPr lang="en-IN" smtClean="0"/>
              <a:t>‹#›</a:t>
            </a:fld>
            <a:endParaRPr lang="en-IN"/>
          </a:p>
        </p:txBody>
      </p:sp>
    </p:spTree>
    <p:extLst>
      <p:ext uri="{BB962C8B-B14F-4D97-AF65-F5344CB8AC3E}">
        <p14:creationId xmlns:p14="http://schemas.microsoft.com/office/powerpoint/2010/main" val="1043960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05DD7A-B8AD-40D3-81F1-D98B152FC513}" type="datetimeFigureOut">
              <a:rPr lang="en-IN" smtClean="0"/>
              <a:t>28-08-2025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6E2A3A-5DF1-4BE8-9C37-CFE7B9544D7E}" type="slidenum">
              <a:rPr lang="en-IN" smtClean="0"/>
              <a:t>‹#›</a:t>
            </a:fld>
            <a:endParaRPr lang="en-IN"/>
          </a:p>
        </p:txBody>
      </p:sp>
    </p:spTree>
    <p:extLst>
      <p:ext uri="{BB962C8B-B14F-4D97-AF65-F5344CB8AC3E}">
        <p14:creationId xmlns:p14="http://schemas.microsoft.com/office/powerpoint/2010/main" val="1154724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05DD7A-B8AD-40D3-81F1-D98B152FC513}" type="datetimeFigureOut">
              <a:rPr lang="en-IN" smtClean="0"/>
              <a:t>28-08-2025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6E2A3A-5DF1-4BE8-9C37-CFE7B9544D7E}" type="slidenum">
              <a:rPr lang="en-IN" smtClean="0"/>
              <a:t>‹#›</a:t>
            </a:fld>
            <a:endParaRPr lang="en-IN"/>
          </a:p>
        </p:txBody>
      </p:sp>
    </p:spTree>
    <p:extLst>
      <p:ext uri="{BB962C8B-B14F-4D97-AF65-F5344CB8AC3E}">
        <p14:creationId xmlns:p14="http://schemas.microsoft.com/office/powerpoint/2010/main" val="42125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7E05DD7A-B8AD-40D3-81F1-D98B152FC513}" type="datetimeFigureOut">
              <a:rPr lang="en-IN" smtClean="0"/>
              <a:t>28-08-2025</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166E2A3A-5DF1-4BE8-9C37-CFE7B9544D7E}" type="slidenum">
              <a:rPr lang="en-IN" smtClean="0"/>
              <a:t>‹#›</a:t>
            </a:fld>
            <a:endParaRPr lang="en-IN"/>
          </a:p>
        </p:txBody>
      </p:sp>
    </p:spTree>
    <p:extLst>
      <p:ext uri="{BB962C8B-B14F-4D97-AF65-F5344CB8AC3E}">
        <p14:creationId xmlns:p14="http://schemas.microsoft.com/office/powerpoint/2010/main" val="35434295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7E05DD7A-B8AD-40D3-81F1-D98B152FC513}" type="datetimeFigureOut">
              <a:rPr lang="en-IN" smtClean="0"/>
              <a:t>28-08-2025</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166E2A3A-5DF1-4BE8-9C37-CFE7B9544D7E}" type="slidenum">
              <a:rPr lang="en-IN" smtClean="0"/>
              <a:t>‹#›</a:t>
            </a:fld>
            <a:endParaRPr lang="en-IN"/>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8691927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7E05DD7A-B8AD-40D3-81F1-D98B152FC513}" type="datetimeFigureOut">
              <a:rPr lang="en-IN" smtClean="0"/>
              <a:t>28-08-2025</a:t>
            </a:fld>
            <a:endParaRPr lang="en-IN"/>
          </a:p>
        </p:txBody>
      </p:sp>
      <p:sp>
        <p:nvSpPr>
          <p:cNvPr id="6" name="Footer Placeholder 5"/>
          <p:cNvSpPr>
            <a:spLocks noGrp="1"/>
          </p:cNvSpPr>
          <p:nvPr>
            <p:ph type="ftr" sz="quarter" idx="11"/>
          </p:nvPr>
        </p:nvSpPr>
        <p:spPr>
          <a:xfrm>
            <a:off x="685800" y="378883"/>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166E2A3A-5DF1-4BE8-9C37-CFE7B9544D7E}" type="slidenum">
              <a:rPr lang="en-IN" smtClean="0"/>
              <a:t>‹#›</a:t>
            </a:fld>
            <a:endParaRPr lang="en-IN"/>
          </a:p>
        </p:txBody>
      </p:sp>
    </p:spTree>
    <p:extLst>
      <p:ext uri="{BB962C8B-B14F-4D97-AF65-F5344CB8AC3E}">
        <p14:creationId xmlns:p14="http://schemas.microsoft.com/office/powerpoint/2010/main" val="37110121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E05DD7A-B8AD-40D3-81F1-D98B152FC513}" type="datetimeFigureOut">
              <a:rPr lang="en-IN" smtClean="0"/>
              <a:t>28-08-2025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66E2A3A-5DF1-4BE8-9C37-CFE7B9544D7E}" type="slidenum">
              <a:rPr lang="en-IN" smtClean="0"/>
              <a:t>‹#›</a:t>
            </a:fld>
            <a:endParaRPr lang="en-IN"/>
          </a:p>
        </p:txBody>
      </p:sp>
    </p:spTree>
    <p:extLst>
      <p:ext uri="{BB962C8B-B14F-4D97-AF65-F5344CB8AC3E}">
        <p14:creationId xmlns:p14="http://schemas.microsoft.com/office/powerpoint/2010/main" val="25154413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E05DD7A-B8AD-40D3-81F1-D98B152FC513}" type="datetimeFigureOut">
              <a:rPr lang="en-IN" smtClean="0"/>
              <a:t>28-08-2025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66E2A3A-5DF1-4BE8-9C37-CFE7B9544D7E}" type="slidenum">
              <a:rPr lang="en-IN" smtClean="0"/>
              <a:t>‹#›</a:t>
            </a:fld>
            <a:endParaRPr lang="en-IN"/>
          </a:p>
        </p:txBody>
      </p:sp>
    </p:spTree>
    <p:extLst>
      <p:ext uri="{BB962C8B-B14F-4D97-AF65-F5344CB8AC3E}">
        <p14:creationId xmlns:p14="http://schemas.microsoft.com/office/powerpoint/2010/main" val="14832637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05DD7A-B8AD-40D3-81F1-D98B152FC513}" type="datetimeFigureOut">
              <a:rPr lang="en-IN" smtClean="0"/>
              <a:t>28-08-2025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6E2A3A-5DF1-4BE8-9C37-CFE7B9544D7E}" type="slidenum">
              <a:rPr lang="en-IN" smtClean="0"/>
              <a:t>‹#›</a:t>
            </a:fld>
            <a:endParaRPr lang="en-IN"/>
          </a:p>
        </p:txBody>
      </p:sp>
    </p:spTree>
    <p:extLst>
      <p:ext uri="{BB962C8B-B14F-4D97-AF65-F5344CB8AC3E}">
        <p14:creationId xmlns:p14="http://schemas.microsoft.com/office/powerpoint/2010/main" val="40260041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7E05DD7A-B8AD-40D3-81F1-D98B152FC513}" type="datetimeFigureOut">
              <a:rPr lang="en-IN" smtClean="0"/>
              <a:t>28-08-2025</a:t>
            </a:fld>
            <a:endParaRPr lang="en-IN"/>
          </a:p>
        </p:txBody>
      </p:sp>
      <p:sp>
        <p:nvSpPr>
          <p:cNvPr id="5" name="Footer Placeholder 4"/>
          <p:cNvSpPr>
            <a:spLocks noGrp="1"/>
          </p:cNvSpPr>
          <p:nvPr>
            <p:ph type="ftr" sz="quarter" idx="11"/>
          </p:nvPr>
        </p:nvSpPr>
        <p:spPr>
          <a:xfrm>
            <a:off x="685800" y="381000"/>
            <a:ext cx="6991492" cy="36512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166E2A3A-5DF1-4BE8-9C37-CFE7B9544D7E}" type="slidenum">
              <a:rPr lang="en-IN" smtClean="0"/>
              <a:t>‹#›</a:t>
            </a:fld>
            <a:endParaRPr lang="en-IN"/>
          </a:p>
        </p:txBody>
      </p:sp>
    </p:spTree>
    <p:extLst>
      <p:ext uri="{BB962C8B-B14F-4D97-AF65-F5344CB8AC3E}">
        <p14:creationId xmlns:p14="http://schemas.microsoft.com/office/powerpoint/2010/main" val="38062872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2-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7E05DD7A-B8AD-40D3-81F1-D98B152FC513}" type="datetimeFigureOut">
              <a:rPr lang="en-IN" smtClean="0"/>
              <a:t>28-08-2025</a:t>
            </a:fld>
            <a:endParaRPr lang="en-IN"/>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166E2A3A-5DF1-4BE8-9C37-CFE7B9544D7E}" type="slidenum">
              <a:rPr lang="en-IN" smtClean="0"/>
              <a:t>‹#›</a:t>
            </a:fld>
            <a:endParaRPr lang="en-IN"/>
          </a:p>
        </p:txBody>
      </p:sp>
    </p:spTree>
    <p:extLst>
      <p:ext uri="{BB962C8B-B14F-4D97-AF65-F5344CB8AC3E}">
        <p14:creationId xmlns:p14="http://schemas.microsoft.com/office/powerpoint/2010/main" val="3170474247"/>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png"/><Relationship Id="rId7" Type="http://schemas.openxmlformats.org/officeDocument/2006/relationships/diagramColors" Target="../diagrams/colors2.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23.xml.rels><?xml version="1.0" encoding="UTF-8" standalone="yes"?>
<Relationships xmlns="http://schemas.openxmlformats.org/package/2006/relationships"><Relationship Id="rId8" Type="http://schemas.openxmlformats.org/officeDocument/2006/relationships/hyperlink" Target="https://firewalld.org/documentation/" TargetMode="External"/><Relationship Id="rId3" Type="http://schemas.openxmlformats.org/officeDocument/2006/relationships/hyperlink" Target="https://docs.rockylinux.org/" TargetMode="External"/><Relationship Id="rId7" Type="http://schemas.openxmlformats.org/officeDocument/2006/relationships/hyperlink" Target="https://www.php.net/docs.php" TargetMode="External"/><Relationship Id="rId2" Type="http://schemas.openxmlformats.org/officeDocument/2006/relationships/hyperlink" Target="https://www.virtualbox.org/wiki/Documentation" TargetMode="External"/><Relationship Id="rId1" Type="http://schemas.openxmlformats.org/officeDocument/2006/relationships/slideLayout" Target="../slideLayouts/slideLayout2.xml"/><Relationship Id="rId6" Type="http://schemas.openxmlformats.org/officeDocument/2006/relationships/hyperlink" Target="https://mariadb.com/kb/" TargetMode="External"/><Relationship Id="rId5" Type="http://schemas.openxmlformats.org/officeDocument/2006/relationships/hyperlink" Target="https://httpd.apache.org/docs/" TargetMode="External"/><Relationship Id="rId4" Type="http://schemas.openxmlformats.org/officeDocument/2006/relationships/hyperlink" Target="https://docs.nextcloud.com/"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6ECDD1C7-3E51-40DC-8B85-24AA12A3917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useBgFill="1">
        <p:nvSpPr>
          <p:cNvPr id="32" name="Rectangle 31">
            <a:extLst>
              <a:ext uri="{FF2B5EF4-FFF2-40B4-BE49-F238E27FC236}">
                <a16:creationId xmlns:a16="http://schemas.microsoft.com/office/drawing/2014/main" id="{A38A195E-584A-485A-BECD-66468900B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634997-79A6-5365-E650-C8920B08DE13}"/>
              </a:ext>
            </a:extLst>
          </p:cNvPr>
          <p:cNvSpPr>
            <a:spLocks noGrp="1"/>
          </p:cNvSpPr>
          <p:nvPr>
            <p:ph type="ctrTitle"/>
          </p:nvPr>
        </p:nvSpPr>
        <p:spPr>
          <a:xfrm>
            <a:off x="4090507" y="764373"/>
            <a:ext cx="7434070" cy="1474330"/>
          </a:xfrm>
        </p:spPr>
        <p:txBody>
          <a:bodyPr vert="horz" lIns="91440" tIns="45720" rIns="91440" bIns="45720" rtlCol="0" anchor="ctr">
            <a:normAutofit/>
          </a:bodyPr>
          <a:lstStyle/>
          <a:p>
            <a:pPr algn="r"/>
            <a:r>
              <a:rPr lang="en-US" sz="3400" b="1" i="1" u="sng" dirty="0"/>
              <a:t>Full  stack  private  cloud implementation  on  </a:t>
            </a:r>
            <a:r>
              <a:rPr lang="en-US" sz="3400" b="1" i="1" u="sng" dirty="0" err="1"/>
              <a:t>nExtcloud</a:t>
            </a:r>
            <a:r>
              <a:rPr lang="en-US" sz="3400" b="1" i="1" u="sng" dirty="0"/>
              <a:t> </a:t>
            </a:r>
          </a:p>
        </p:txBody>
      </p:sp>
      <p:sp>
        <p:nvSpPr>
          <p:cNvPr id="33" name="Rectangle 32">
            <a:extLst>
              <a:ext uri="{FF2B5EF4-FFF2-40B4-BE49-F238E27FC236}">
                <a16:creationId xmlns:a16="http://schemas.microsoft.com/office/drawing/2014/main" id="{840177A7-740C-43C7-8F2D-BD7067F12C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06393" cy="6858000"/>
          </a:xfrm>
          <a:prstGeom prst="rect">
            <a:avLst/>
          </a:prstGeom>
          <a:solidFill>
            <a:schemeClr val="bg1">
              <a:lumMod val="95000"/>
              <a:lumOff val="5000"/>
            </a:schemeClr>
          </a:solidFill>
          <a:ln>
            <a:noFill/>
          </a:ln>
          <a:effectLst>
            <a:outerShdw blurRad="635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30" name="Picture 29">
            <a:extLst>
              <a:ext uri="{FF2B5EF4-FFF2-40B4-BE49-F238E27FC236}">
                <a16:creationId xmlns:a16="http://schemas.microsoft.com/office/drawing/2014/main" id="{D050A49F-C54B-4F93-97E6-5B81ED5DC70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r="43730"/>
          <a:stretch/>
        </p:blipFill>
        <p:spPr>
          <a:xfrm rot="16200000">
            <a:off x="-1266906" y="2188762"/>
            <a:ext cx="6860373" cy="2482850"/>
          </a:xfrm>
          <a:prstGeom prst="rect">
            <a:avLst/>
          </a:prstGeom>
        </p:spPr>
      </p:pic>
      <p:sp>
        <p:nvSpPr>
          <p:cNvPr id="3" name="Subtitle 2">
            <a:extLst>
              <a:ext uri="{FF2B5EF4-FFF2-40B4-BE49-F238E27FC236}">
                <a16:creationId xmlns:a16="http://schemas.microsoft.com/office/drawing/2014/main" id="{E0088F7C-DF4E-E913-2124-29EB9EBD6C07}"/>
              </a:ext>
            </a:extLst>
          </p:cNvPr>
          <p:cNvSpPr>
            <a:spLocks noGrp="1"/>
          </p:cNvSpPr>
          <p:nvPr>
            <p:ph type="subTitle" idx="1"/>
          </p:nvPr>
        </p:nvSpPr>
        <p:spPr>
          <a:xfrm>
            <a:off x="4090507" y="2628900"/>
            <a:ext cx="7454077" cy="3589785"/>
          </a:xfrm>
        </p:spPr>
        <p:txBody>
          <a:bodyPr vert="horz" lIns="91440" tIns="45720" rIns="91440" bIns="45720" rtlCol="0">
            <a:normAutofit/>
          </a:bodyPr>
          <a:lstStyle/>
          <a:p>
            <a:pPr indent="-228600">
              <a:buFont typeface="Arial" panose="020B0604020202020204" pitchFamily="34" charset="0"/>
              <a:buChar char="•"/>
            </a:pPr>
            <a:r>
              <a:rPr lang="en-US" b="1"/>
              <a:t>Guide Name : </a:t>
            </a:r>
            <a:r>
              <a:rPr lang="en-US"/>
              <a:t>Mohammed Affan R, Scientist C</a:t>
            </a:r>
          </a:p>
          <a:p>
            <a:pPr indent="-228600">
              <a:buFont typeface="Arial" panose="020B0604020202020204" pitchFamily="34" charset="0"/>
              <a:buChar char="•"/>
            </a:pPr>
            <a:r>
              <a:rPr lang="en-US" b="1"/>
              <a:t>Co-Supervisor Name: </a:t>
            </a:r>
            <a:r>
              <a:rPr lang="en-US"/>
              <a:t>Yatish Kumar P , RP(ISM)</a:t>
            </a:r>
          </a:p>
          <a:p>
            <a:pPr indent="-228600">
              <a:buFont typeface="Arial" panose="020B0604020202020204" pitchFamily="34" charset="0"/>
              <a:buChar char="•"/>
            </a:pPr>
            <a:r>
              <a:rPr lang="en-US" b="1"/>
              <a:t>Presented by :</a:t>
            </a:r>
            <a:r>
              <a:rPr lang="en-US"/>
              <a:t>Anush Rayat (2025-06-18-IN22-67394) </a:t>
            </a:r>
            <a:br>
              <a:rPr lang="en-US"/>
            </a:br>
            <a:endParaRPr lang="en-US" dirty="0"/>
          </a:p>
        </p:txBody>
      </p:sp>
    </p:spTree>
    <p:extLst>
      <p:ext uri="{BB962C8B-B14F-4D97-AF65-F5344CB8AC3E}">
        <p14:creationId xmlns:p14="http://schemas.microsoft.com/office/powerpoint/2010/main" val="54102884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F23CF-F313-6271-7663-46F7FF19955C}"/>
              </a:ext>
            </a:extLst>
          </p:cNvPr>
          <p:cNvSpPr>
            <a:spLocks noGrp="1"/>
          </p:cNvSpPr>
          <p:nvPr>
            <p:ph type="title"/>
          </p:nvPr>
        </p:nvSpPr>
        <p:spPr>
          <a:xfrm>
            <a:off x="685799" y="764373"/>
            <a:ext cx="3977639" cy="1600200"/>
          </a:xfrm>
        </p:spPr>
        <p:txBody>
          <a:bodyPr anchor="b">
            <a:normAutofit/>
          </a:bodyPr>
          <a:lstStyle/>
          <a:p>
            <a:pPr algn="l"/>
            <a:r>
              <a:rPr lang="en-IN" sz="3200" b="1" u="sng"/>
              <a:t>Agenda</a:t>
            </a:r>
          </a:p>
        </p:txBody>
      </p:sp>
      <p:sp>
        <p:nvSpPr>
          <p:cNvPr id="3" name="Content Placeholder 2">
            <a:extLst>
              <a:ext uri="{FF2B5EF4-FFF2-40B4-BE49-F238E27FC236}">
                <a16:creationId xmlns:a16="http://schemas.microsoft.com/office/drawing/2014/main" id="{927ED958-89A9-F282-A9A5-505832AC7D40}"/>
              </a:ext>
            </a:extLst>
          </p:cNvPr>
          <p:cNvSpPr>
            <a:spLocks noGrp="1"/>
          </p:cNvSpPr>
          <p:nvPr>
            <p:ph idx="1"/>
          </p:nvPr>
        </p:nvSpPr>
        <p:spPr>
          <a:xfrm>
            <a:off x="685800" y="2364573"/>
            <a:ext cx="3977639" cy="3854112"/>
          </a:xfrm>
        </p:spPr>
        <p:txBody>
          <a:bodyPr>
            <a:normAutofit/>
          </a:bodyPr>
          <a:lstStyle/>
          <a:p>
            <a:pPr>
              <a:buFont typeface="Wingdings" panose="05000000000000000000" pitchFamily="2" charset="2"/>
              <a:buChar char="q"/>
            </a:pPr>
            <a:r>
              <a:rPr lang="en-IN" sz="1600"/>
              <a:t>Literature Survey </a:t>
            </a:r>
          </a:p>
          <a:p>
            <a:pPr>
              <a:buFont typeface="Wingdings" panose="05000000000000000000" pitchFamily="2" charset="2"/>
              <a:buChar char="q"/>
            </a:pPr>
            <a:r>
              <a:rPr lang="en-IN" sz="1600"/>
              <a:t>Objective </a:t>
            </a:r>
          </a:p>
          <a:p>
            <a:pPr>
              <a:buFont typeface="Wingdings" panose="05000000000000000000" pitchFamily="2" charset="2"/>
              <a:buChar char="q"/>
            </a:pPr>
            <a:r>
              <a:rPr lang="en-IN" sz="1600"/>
              <a:t>Block Diagram</a:t>
            </a:r>
          </a:p>
          <a:p>
            <a:pPr>
              <a:buFont typeface="Wingdings" panose="05000000000000000000" pitchFamily="2" charset="2"/>
              <a:buChar char="q"/>
            </a:pPr>
            <a:r>
              <a:rPr lang="en-IN" sz="1600"/>
              <a:t>Proposed Setup</a:t>
            </a:r>
          </a:p>
          <a:p>
            <a:pPr>
              <a:buFont typeface="Wingdings" panose="05000000000000000000" pitchFamily="2" charset="2"/>
              <a:buChar char="q"/>
            </a:pPr>
            <a:r>
              <a:rPr lang="en-IN" sz="1600"/>
              <a:t>Hardware &amp;Software Tools </a:t>
            </a:r>
          </a:p>
          <a:p>
            <a:pPr>
              <a:buFont typeface="Wingdings" panose="05000000000000000000" pitchFamily="2" charset="2"/>
              <a:buChar char="q"/>
            </a:pPr>
            <a:r>
              <a:rPr lang="en-IN" sz="1600"/>
              <a:t>Implementation</a:t>
            </a:r>
          </a:p>
          <a:p>
            <a:pPr>
              <a:buFont typeface="Wingdings" panose="05000000000000000000" pitchFamily="2" charset="2"/>
              <a:buChar char="q"/>
            </a:pPr>
            <a:r>
              <a:rPr lang="en-IN" sz="1600"/>
              <a:t>Testing &amp;Results</a:t>
            </a:r>
          </a:p>
          <a:p>
            <a:pPr>
              <a:buFont typeface="Wingdings" panose="05000000000000000000" pitchFamily="2" charset="2"/>
              <a:buChar char="q"/>
            </a:pPr>
            <a:r>
              <a:rPr lang="en-IN" sz="1600"/>
              <a:t>Conclusion</a:t>
            </a:r>
          </a:p>
          <a:p>
            <a:pPr>
              <a:buFont typeface="Wingdings" panose="05000000000000000000" pitchFamily="2" charset="2"/>
              <a:buChar char="q"/>
            </a:pPr>
            <a:r>
              <a:rPr lang="en-IN" sz="1600"/>
              <a:t>References</a:t>
            </a:r>
          </a:p>
          <a:p>
            <a:pPr>
              <a:buFont typeface="Wingdings" panose="05000000000000000000" pitchFamily="2" charset="2"/>
              <a:buChar char="q"/>
            </a:pPr>
            <a:endParaRPr lang="en-IN" sz="1600"/>
          </a:p>
        </p:txBody>
      </p:sp>
      <p:sp useBgFill="1">
        <p:nvSpPr>
          <p:cNvPr id="9" name="Rectangle 8">
            <a:extLst>
              <a:ext uri="{FF2B5EF4-FFF2-40B4-BE49-F238E27FC236}">
                <a16:creationId xmlns:a16="http://schemas.microsoft.com/office/drawing/2014/main" id="{8D25211A-4CA0-4B53-82BB-1EE7C7F3C7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51379" y="0"/>
            <a:ext cx="724061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erson writing on a notepad">
            <a:extLst>
              <a:ext uri="{FF2B5EF4-FFF2-40B4-BE49-F238E27FC236}">
                <a16:creationId xmlns:a16="http://schemas.microsoft.com/office/drawing/2014/main" id="{95F97711-7C96-357F-9E4A-BB6AE98556CF}"/>
              </a:ext>
            </a:extLst>
          </p:cNvPr>
          <p:cNvPicPr>
            <a:picLocks noChangeAspect="1"/>
          </p:cNvPicPr>
          <p:nvPr/>
        </p:nvPicPr>
        <p:blipFill>
          <a:blip r:embed="rId2"/>
          <a:srcRect l="13895" r="6510"/>
          <a:stretch>
            <a:fillRect/>
          </a:stretch>
        </p:blipFill>
        <p:spPr>
          <a:xfrm>
            <a:off x="5304147" y="10"/>
            <a:ext cx="6887853" cy="6857990"/>
          </a:xfrm>
          <a:prstGeom prst="rect">
            <a:avLst/>
          </a:prstGeom>
        </p:spPr>
      </p:pic>
    </p:spTree>
    <p:extLst>
      <p:ext uri="{BB962C8B-B14F-4D97-AF65-F5344CB8AC3E}">
        <p14:creationId xmlns:p14="http://schemas.microsoft.com/office/powerpoint/2010/main" val="807913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71B6BCB8-C051-48AD-B5DF-0FB2E355E8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86000"/>
          </a:xfrm>
          <a:prstGeom prst="rect">
            <a:avLst/>
          </a:prstGeom>
          <a:solidFill>
            <a:schemeClr val="tx1"/>
          </a:solidFill>
          <a:ln>
            <a:noFill/>
          </a:ln>
          <a:effectLst>
            <a:outerShdw blurRad="63500" dist="38100" dir="16200000" rotWithShape="0">
              <a:prstClr val="black">
                <a:alpha val="40000"/>
              </a:prstClr>
            </a:outerShdw>
          </a:effectLst>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sp useBgFill="1">
        <p:nvSpPr>
          <p:cNvPr id="25" name="Rectangle 24">
            <a:extLst>
              <a:ext uri="{FF2B5EF4-FFF2-40B4-BE49-F238E27FC236}">
                <a16:creationId xmlns:a16="http://schemas.microsoft.com/office/drawing/2014/main" id="{5BB4DFE2-EBF8-4AE3-81C2-59437CA3B3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340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5D730089-46D8-4C9D-A3CC-E7C98734111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4572000"/>
            <a:ext cx="12192000" cy="1441450"/>
          </a:xfrm>
          <a:prstGeom prst="rect">
            <a:avLst/>
          </a:prstGeom>
        </p:spPr>
      </p:pic>
      <p:sp>
        <p:nvSpPr>
          <p:cNvPr id="2" name="Title 1">
            <a:extLst>
              <a:ext uri="{FF2B5EF4-FFF2-40B4-BE49-F238E27FC236}">
                <a16:creationId xmlns:a16="http://schemas.microsoft.com/office/drawing/2014/main" id="{0722C4ED-36F7-98A3-33DF-0E4502702CF0}"/>
              </a:ext>
            </a:extLst>
          </p:cNvPr>
          <p:cNvSpPr>
            <a:spLocks noGrp="1"/>
          </p:cNvSpPr>
          <p:nvPr>
            <p:ph type="title"/>
          </p:nvPr>
        </p:nvSpPr>
        <p:spPr>
          <a:xfrm>
            <a:off x="685800" y="5178415"/>
            <a:ext cx="10820400" cy="1293028"/>
          </a:xfrm>
        </p:spPr>
        <p:txBody>
          <a:bodyPr>
            <a:normAutofit/>
          </a:bodyPr>
          <a:lstStyle/>
          <a:p>
            <a:r>
              <a:rPr lang="en-IN" b="1" u="sng">
                <a:solidFill>
                  <a:schemeClr val="bg1"/>
                </a:solidFill>
              </a:rPr>
              <a:t>Literature Survey</a:t>
            </a:r>
          </a:p>
        </p:txBody>
      </p:sp>
      <p:graphicFrame>
        <p:nvGraphicFramePr>
          <p:cNvPr id="4" name="Content Placeholder 3">
            <a:extLst>
              <a:ext uri="{FF2B5EF4-FFF2-40B4-BE49-F238E27FC236}">
                <a16:creationId xmlns:a16="http://schemas.microsoft.com/office/drawing/2014/main" id="{D773DBB2-9318-2A13-0762-900DB0B37F17}"/>
              </a:ext>
            </a:extLst>
          </p:cNvPr>
          <p:cNvGraphicFramePr>
            <a:graphicFrameLocks noGrp="1"/>
          </p:cNvGraphicFramePr>
          <p:nvPr>
            <p:ph idx="1"/>
            <p:extLst>
              <p:ext uri="{D42A27DB-BD31-4B8C-83A1-F6EECF244321}">
                <p14:modId xmlns:p14="http://schemas.microsoft.com/office/powerpoint/2010/main" val="3623813328"/>
              </p:ext>
            </p:extLst>
          </p:nvPr>
        </p:nvGraphicFramePr>
        <p:xfrm>
          <a:off x="685800" y="243068"/>
          <a:ext cx="11004630" cy="4120587"/>
        </p:xfrm>
        <a:graphic>
          <a:graphicData uri="http://schemas.openxmlformats.org/drawingml/2006/table">
            <a:tbl>
              <a:tblPr firstRow="1" bandRow="1">
                <a:solidFill>
                  <a:srgbClr val="F2F2F2">
                    <a:alpha val="45098"/>
                  </a:srgbClr>
                </a:solidFill>
                <a:tableStyleId>{5C22544A-7EE6-4342-B048-85BDC9FD1C3A}</a:tableStyleId>
              </a:tblPr>
              <a:tblGrid>
                <a:gridCol w="2541611">
                  <a:extLst>
                    <a:ext uri="{9D8B030D-6E8A-4147-A177-3AD203B41FA5}">
                      <a16:colId xmlns:a16="http://schemas.microsoft.com/office/drawing/2014/main" val="2711660381"/>
                    </a:ext>
                  </a:extLst>
                </a:gridCol>
                <a:gridCol w="8463019">
                  <a:extLst>
                    <a:ext uri="{9D8B030D-6E8A-4147-A177-3AD203B41FA5}">
                      <a16:colId xmlns:a16="http://schemas.microsoft.com/office/drawing/2014/main" val="785805897"/>
                    </a:ext>
                  </a:extLst>
                </a:gridCol>
              </a:tblGrid>
              <a:tr h="458208">
                <a:tc>
                  <a:txBody>
                    <a:bodyPr/>
                    <a:lstStyle/>
                    <a:p>
                      <a:endParaRPr lang="en-IN" sz="1400" b="0" cap="none" spc="0">
                        <a:solidFill>
                          <a:schemeClr val="bg1"/>
                        </a:solidFill>
                      </a:endParaRPr>
                    </a:p>
                  </a:txBody>
                  <a:tcPr marL="64494" marR="64494" marT="90777" marB="32248" anchor="ctr">
                    <a:lnL w="12700" cmpd="sng">
                      <a:noFill/>
                    </a:lnL>
                    <a:lnR w="12700" cmpd="sng">
                      <a:noFill/>
                    </a:lnR>
                    <a:lnT w="19050" cap="flat" cmpd="sng" algn="ctr">
                      <a:noFill/>
                      <a:prstDash val="solid"/>
                    </a:lnT>
                    <a:lnB w="38100" cmpd="sng">
                      <a:noFill/>
                    </a:lnB>
                    <a:solidFill>
                      <a:schemeClr val="tx1"/>
                    </a:solidFill>
                  </a:tcPr>
                </a:tc>
                <a:tc>
                  <a:txBody>
                    <a:bodyPr/>
                    <a:lstStyle/>
                    <a:p>
                      <a:r>
                        <a:rPr lang="en-IN" sz="1400" b="0" cap="none" spc="0">
                          <a:solidFill>
                            <a:schemeClr val="bg1"/>
                          </a:solidFill>
                        </a:rPr>
                        <a:t>Private Cloud implementation using Open-Source Technologies</a:t>
                      </a:r>
                    </a:p>
                  </a:txBody>
                  <a:tcPr marL="64494" marR="64494" marT="90777" marB="32248" anchor="ctr">
                    <a:lnL w="12700" cmpd="sng">
                      <a:noFill/>
                    </a:lnL>
                    <a:lnR w="12700" cmpd="sng">
                      <a:noFill/>
                    </a:lnR>
                    <a:lnT w="19050" cap="flat" cmpd="sng" algn="ctr">
                      <a:noFill/>
                      <a:prstDash val="solid"/>
                    </a:lnT>
                    <a:lnB w="38100" cmpd="sng">
                      <a:noFill/>
                    </a:lnB>
                    <a:solidFill>
                      <a:schemeClr val="tx1"/>
                    </a:solidFill>
                  </a:tcPr>
                </a:tc>
                <a:extLst>
                  <a:ext uri="{0D108BD9-81ED-4DB2-BD59-A6C34878D82A}">
                    <a16:rowId xmlns:a16="http://schemas.microsoft.com/office/drawing/2014/main" val="2364639361"/>
                  </a:ext>
                </a:extLst>
              </a:tr>
              <a:tr h="869131">
                <a:tc>
                  <a:txBody>
                    <a:bodyPr/>
                    <a:lstStyle/>
                    <a:p>
                      <a:r>
                        <a:rPr lang="en-IN" sz="1200" b="1" cap="none" spc="0">
                          <a:solidFill>
                            <a:schemeClr val="tx1"/>
                          </a:solidFill>
                        </a:rPr>
                        <a:t>Hypothesis</a:t>
                      </a:r>
                    </a:p>
                  </a:txBody>
                  <a:tcPr marL="64494" marR="64494" marT="90777" marB="32248">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tc>
                  <a:txBody>
                    <a:bodyPr/>
                    <a:lstStyle/>
                    <a:p>
                      <a:r>
                        <a:rPr lang="en-IN" sz="1200" kern="1200" cap="none" spc="0">
                          <a:solidFill>
                            <a:schemeClr val="tx1"/>
                          </a:solidFill>
                          <a:effectLst/>
                          <a:latin typeface="+mn-lt"/>
                          <a:ea typeface="+mn-ea"/>
                          <a:cs typeface="+mn-cs"/>
                        </a:rPr>
                        <a:t>This paper asserts that implementing private cloud solutions using open-source technologies like Nextcloud provides organizations with complete control over their data while maintaining functionality comparable to commercial cloud services.</a:t>
                      </a:r>
                      <a:endParaRPr lang="en-IN" sz="1200" cap="none" spc="0">
                        <a:solidFill>
                          <a:schemeClr val="tx1"/>
                        </a:solidFill>
                      </a:endParaRPr>
                    </a:p>
                  </a:txBody>
                  <a:tcPr marL="64494" marR="64494" marT="90777" marB="32248">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extLst>
                  <a:ext uri="{0D108BD9-81ED-4DB2-BD59-A6C34878D82A}">
                    <a16:rowId xmlns:a16="http://schemas.microsoft.com/office/drawing/2014/main" val="1656632144"/>
                  </a:ext>
                </a:extLst>
              </a:tr>
              <a:tr h="1054986">
                <a:tc>
                  <a:txBody>
                    <a:bodyPr/>
                    <a:lstStyle/>
                    <a:p>
                      <a:r>
                        <a:rPr lang="en-IN" sz="1200" b="1" cap="none" spc="0">
                          <a:solidFill>
                            <a:schemeClr val="tx1"/>
                          </a:solidFill>
                        </a:rPr>
                        <a:t>Implementation</a:t>
                      </a:r>
                    </a:p>
                  </a:txBody>
                  <a:tcPr marL="64494" marR="64494" marT="90777" marB="32248">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cap="none" spc="0">
                          <a:solidFill>
                            <a:schemeClr val="tx1"/>
                          </a:solidFill>
                          <a:effectLst/>
                          <a:latin typeface="+mn-lt"/>
                          <a:ea typeface="+mn-ea"/>
                          <a:cs typeface="+mn-cs"/>
                        </a:rPr>
                        <a:t>The setup involves deploying Nextcloud on Linux servers with Apache web server, MariaDB database, and PHP runtime environment. The implementation focuses on creating a secure, scalable, and reliable cloud storage platform.</a:t>
                      </a:r>
                    </a:p>
                    <a:p>
                      <a:endParaRPr lang="en-IN" sz="1200" cap="none" spc="0">
                        <a:solidFill>
                          <a:schemeClr val="tx1"/>
                        </a:solidFill>
                      </a:endParaRPr>
                    </a:p>
                  </a:txBody>
                  <a:tcPr marL="64494" marR="64494" marT="90777" marB="32248">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extLst>
                  <a:ext uri="{0D108BD9-81ED-4DB2-BD59-A6C34878D82A}">
                    <a16:rowId xmlns:a16="http://schemas.microsoft.com/office/drawing/2014/main" val="2066578127"/>
                  </a:ext>
                </a:extLst>
              </a:tr>
              <a:tr h="869131">
                <a:tc>
                  <a:txBody>
                    <a:bodyPr/>
                    <a:lstStyle/>
                    <a:p>
                      <a:r>
                        <a:rPr lang="en-IN" sz="1200" b="1" cap="none" spc="0">
                          <a:solidFill>
                            <a:schemeClr val="tx1"/>
                          </a:solidFill>
                        </a:rPr>
                        <a:t>Solutions</a:t>
                      </a:r>
                    </a:p>
                  </a:txBody>
                  <a:tcPr marL="64494" marR="64494" marT="90777" marB="32248">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cap="none" spc="0">
                          <a:solidFill>
                            <a:schemeClr val="tx1"/>
                          </a:solidFill>
                          <a:effectLst/>
                          <a:latin typeface="+mn-lt"/>
                          <a:ea typeface="+mn-ea"/>
                          <a:cs typeface="+mn-cs"/>
                        </a:rPr>
                        <a:t>The deployment provides practical solutions for data sovereignty, cost-effective cloud storage, enhanced privacy controls, and customizable collaboration features. Organizations gain complete control over their data without relying on third-party cloud providers.</a:t>
                      </a:r>
                    </a:p>
                  </a:txBody>
                  <a:tcPr marL="64494" marR="64494" marT="90777" marB="32248">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extLst>
                  <a:ext uri="{0D108BD9-81ED-4DB2-BD59-A6C34878D82A}">
                    <a16:rowId xmlns:a16="http://schemas.microsoft.com/office/drawing/2014/main" val="727819086"/>
                  </a:ext>
                </a:extLst>
              </a:tr>
              <a:tr h="869131">
                <a:tc>
                  <a:txBody>
                    <a:bodyPr/>
                    <a:lstStyle/>
                    <a:p>
                      <a:r>
                        <a:rPr lang="en-IN" sz="1200" b="1" cap="none" spc="0">
                          <a:solidFill>
                            <a:schemeClr val="tx1"/>
                          </a:solidFill>
                        </a:rPr>
                        <a:t>Critical Comments</a:t>
                      </a:r>
                    </a:p>
                  </a:txBody>
                  <a:tcPr marL="64494" marR="64494" marT="90777" marB="32248">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r>
                        <a:rPr lang="en-IN" sz="1200" kern="1200" cap="none" spc="0" dirty="0">
                          <a:solidFill>
                            <a:schemeClr val="tx1"/>
                          </a:solidFill>
                          <a:effectLst/>
                          <a:latin typeface="+mn-lt"/>
                          <a:ea typeface="+mn-ea"/>
                          <a:cs typeface="+mn-cs"/>
                        </a:rPr>
                        <a:t>While the demonstration highlights Nextcloud's effectiveness in providing private cloud capabilities, further research could explore advanced features like high availability setups, load balancing, and integration with enterprise authentication systems.</a:t>
                      </a:r>
                      <a:endParaRPr lang="en-IN" sz="1200" cap="none" spc="0" dirty="0">
                        <a:solidFill>
                          <a:schemeClr val="tx1"/>
                        </a:solidFill>
                      </a:endParaRPr>
                    </a:p>
                  </a:txBody>
                  <a:tcPr marL="64494" marR="64494" marT="90777" marB="32248">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extLst>
                  <a:ext uri="{0D108BD9-81ED-4DB2-BD59-A6C34878D82A}">
                    <a16:rowId xmlns:a16="http://schemas.microsoft.com/office/drawing/2014/main" val="2967564824"/>
                  </a:ext>
                </a:extLst>
              </a:tr>
            </a:tbl>
          </a:graphicData>
        </a:graphic>
      </p:graphicFrame>
    </p:spTree>
    <p:extLst>
      <p:ext uri="{BB962C8B-B14F-4D97-AF65-F5344CB8AC3E}">
        <p14:creationId xmlns:p14="http://schemas.microsoft.com/office/powerpoint/2010/main" val="2253214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B6AEB26F-5E26-4759-82A1-E4F8004660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86000"/>
            <a:ext cx="12192000"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105DD79F-4366-4F78-81F8-886DD4447C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86000"/>
          </a:xfrm>
          <a:prstGeom prst="rect">
            <a:avLst/>
          </a:prstGeom>
          <a:solidFill>
            <a:schemeClr val="tx1"/>
          </a:solidFill>
          <a:ln>
            <a:noFill/>
          </a:ln>
          <a:effectLst>
            <a:outerShdw blurRad="50800" dist="38100" dir="5400000" algn="t" rotWithShape="0">
              <a:prstClr val="black">
                <a:alpha val="40000"/>
              </a:prstClr>
            </a:outerShdw>
          </a:effectLst>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pic>
        <p:nvPicPr>
          <p:cNvPr id="44" name="Picture 43">
            <a:extLst>
              <a:ext uri="{FF2B5EF4-FFF2-40B4-BE49-F238E27FC236}">
                <a16:creationId xmlns:a16="http://schemas.microsoft.com/office/drawing/2014/main" id="{34661A9D-3934-4A88-B119-86C5B622C95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1">
            <a:extLst>
              <a:ext uri="{FF2B5EF4-FFF2-40B4-BE49-F238E27FC236}">
                <a16:creationId xmlns:a16="http://schemas.microsoft.com/office/drawing/2014/main" id="{C18A48CF-BC3F-1890-9F08-2F5124B436BA}"/>
              </a:ext>
            </a:extLst>
          </p:cNvPr>
          <p:cNvSpPr>
            <a:spLocks noGrp="1"/>
          </p:cNvSpPr>
          <p:nvPr>
            <p:ph type="title"/>
          </p:nvPr>
        </p:nvSpPr>
        <p:spPr>
          <a:xfrm>
            <a:off x="2895600" y="764373"/>
            <a:ext cx="8610600" cy="1293028"/>
          </a:xfrm>
        </p:spPr>
        <p:txBody>
          <a:bodyPr>
            <a:normAutofit/>
          </a:bodyPr>
          <a:lstStyle/>
          <a:p>
            <a:r>
              <a:rPr lang="en-IN" b="1" u="sng">
                <a:solidFill>
                  <a:schemeClr val="bg1"/>
                </a:solidFill>
              </a:rPr>
              <a:t>Literature Survey</a:t>
            </a:r>
          </a:p>
        </p:txBody>
      </p:sp>
      <p:graphicFrame>
        <p:nvGraphicFramePr>
          <p:cNvPr id="4" name="Content Placeholder 3">
            <a:extLst>
              <a:ext uri="{FF2B5EF4-FFF2-40B4-BE49-F238E27FC236}">
                <a16:creationId xmlns:a16="http://schemas.microsoft.com/office/drawing/2014/main" id="{941BCB5F-5B92-96B7-6DA2-937A01075B13}"/>
              </a:ext>
            </a:extLst>
          </p:cNvPr>
          <p:cNvGraphicFramePr>
            <a:graphicFrameLocks noGrp="1"/>
          </p:cNvGraphicFramePr>
          <p:nvPr>
            <p:ph idx="1"/>
            <p:extLst>
              <p:ext uri="{D42A27DB-BD31-4B8C-83A1-F6EECF244321}">
                <p14:modId xmlns:p14="http://schemas.microsoft.com/office/powerpoint/2010/main" val="3228253994"/>
              </p:ext>
            </p:extLst>
          </p:nvPr>
        </p:nvGraphicFramePr>
        <p:xfrm>
          <a:off x="1155838" y="2514600"/>
          <a:ext cx="10534591" cy="4092874"/>
        </p:xfrm>
        <a:graphic>
          <a:graphicData uri="http://schemas.openxmlformats.org/drawingml/2006/table">
            <a:tbl>
              <a:tblPr firstRow="1" bandRow="1">
                <a:solidFill>
                  <a:schemeClr val="bg1">
                    <a:lumMod val="95000"/>
                  </a:schemeClr>
                </a:solidFill>
                <a:tableStyleId>{5C22544A-7EE6-4342-B048-85BDC9FD1C3A}</a:tableStyleId>
              </a:tblPr>
              <a:tblGrid>
                <a:gridCol w="2032322">
                  <a:extLst>
                    <a:ext uri="{9D8B030D-6E8A-4147-A177-3AD203B41FA5}">
                      <a16:colId xmlns:a16="http://schemas.microsoft.com/office/drawing/2014/main" val="3857568686"/>
                    </a:ext>
                  </a:extLst>
                </a:gridCol>
                <a:gridCol w="8502269">
                  <a:extLst>
                    <a:ext uri="{9D8B030D-6E8A-4147-A177-3AD203B41FA5}">
                      <a16:colId xmlns:a16="http://schemas.microsoft.com/office/drawing/2014/main" val="269358709"/>
                    </a:ext>
                  </a:extLst>
                </a:gridCol>
              </a:tblGrid>
              <a:tr h="509820">
                <a:tc>
                  <a:txBody>
                    <a:bodyPr/>
                    <a:lstStyle/>
                    <a:p>
                      <a:endParaRPr lang="en-IN" sz="1700" b="1" cap="none" spc="0">
                        <a:solidFill>
                          <a:schemeClr val="tx1"/>
                        </a:solidFill>
                      </a:endParaRPr>
                    </a:p>
                  </a:txBody>
                  <a:tcPr marL="70127" marR="149963" marT="20037" marB="150274"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700" b="1" kern="1200" cap="none" spc="0">
                          <a:solidFill>
                            <a:schemeClr val="tx1"/>
                          </a:solidFill>
                          <a:effectLst/>
                          <a:latin typeface="+mn-lt"/>
                          <a:ea typeface="+mn-ea"/>
                          <a:cs typeface="+mn-cs"/>
                        </a:rPr>
                        <a:t>Cross-Platform Compatibility in Self-Hosted Cloud Solutions</a:t>
                      </a:r>
                    </a:p>
                  </a:txBody>
                  <a:tcPr marL="70127" marR="149963" marT="20037" marB="150274" anchor="b">
                    <a:lnL w="12700" cmpd="sng">
                      <a:noFill/>
                    </a:lnL>
                    <a:lnR w="12700" cmpd="sng">
                      <a:noFill/>
                    </a:lnR>
                    <a:lnT w="9525" cap="flat" cmpd="sng" algn="ctr">
                      <a:noFill/>
                      <a:prstDash val="solid"/>
                    </a:lnT>
                    <a:lnB w="38100" cmpd="sng">
                      <a:noFill/>
                    </a:lnB>
                    <a:solidFill>
                      <a:schemeClr val="bg1">
                        <a:lumMod val="95000"/>
                      </a:schemeClr>
                    </a:solidFill>
                  </a:tcPr>
                </a:tc>
                <a:extLst>
                  <a:ext uri="{0D108BD9-81ED-4DB2-BD59-A6C34878D82A}">
                    <a16:rowId xmlns:a16="http://schemas.microsoft.com/office/drawing/2014/main" val="4116928847"/>
                  </a:ext>
                </a:extLst>
              </a:tr>
              <a:tr h="889389">
                <a:tc>
                  <a:txBody>
                    <a:bodyPr/>
                    <a:lstStyle/>
                    <a:p>
                      <a:r>
                        <a:rPr lang="en-IN" sz="1400" b="1" cap="none" spc="0">
                          <a:solidFill>
                            <a:schemeClr val="tx1"/>
                          </a:solidFill>
                        </a:rPr>
                        <a:t>Hypothesis</a:t>
                      </a:r>
                    </a:p>
                  </a:txBody>
                  <a:tcPr marL="70127" marR="129967" marT="20037" marB="150274">
                    <a:lnL w="12700" cap="flat" cmpd="sng" algn="ctr">
                      <a:solidFill>
                        <a:schemeClr val="accent1"/>
                      </a:solidFill>
                      <a:prstDash val="solid"/>
                    </a:lnL>
                    <a:lnR w="12700" cmpd="sng">
                      <a:noFill/>
                      <a:prstDash val="solid"/>
                    </a:lnR>
                    <a:lnT w="38100" cmpd="sng">
                      <a:noFill/>
                    </a:lnT>
                    <a:lnB w="9525" cap="flat" cmpd="sng" algn="ctr">
                      <a:noFill/>
                      <a:prstDash val="soli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kern="1200" cap="none" spc="0" dirty="0">
                          <a:solidFill>
                            <a:schemeClr val="tx1"/>
                          </a:solidFill>
                          <a:effectLst/>
                          <a:latin typeface="+mn-lt"/>
                          <a:ea typeface="+mn-ea"/>
                          <a:cs typeface="+mn-cs"/>
                        </a:rPr>
                        <a:t>The study investigates how self-hosted cloud solutions can provide seamless access across multiple platforms and devices, ensuring user experience comparable to commercial cloud services.</a:t>
                      </a:r>
                    </a:p>
                  </a:txBody>
                  <a:tcPr marL="70127" marR="129967" marT="20037" marB="150274">
                    <a:lnL w="12700" cmpd="sng">
                      <a:noFill/>
                      <a:prstDash val="solid"/>
                    </a:lnL>
                    <a:lnR w="12700" cmpd="sng">
                      <a:noFill/>
                      <a:prstDash val="solid"/>
                    </a:lnR>
                    <a:lnT w="38100" cmpd="sng">
                      <a:noFill/>
                    </a:lnT>
                    <a:lnB w="9525" cap="flat" cmpd="sng" algn="ctr">
                      <a:noFill/>
                      <a:prstDash val="solid"/>
                    </a:lnB>
                    <a:solidFill>
                      <a:schemeClr val="bg1">
                        <a:lumMod val="95000"/>
                      </a:schemeClr>
                    </a:solidFill>
                  </a:tcPr>
                </a:tc>
                <a:extLst>
                  <a:ext uri="{0D108BD9-81ED-4DB2-BD59-A6C34878D82A}">
                    <a16:rowId xmlns:a16="http://schemas.microsoft.com/office/drawing/2014/main" val="2373493731"/>
                  </a:ext>
                </a:extLst>
              </a:tr>
              <a:tr h="889389">
                <a:tc>
                  <a:txBody>
                    <a:bodyPr/>
                    <a:lstStyle/>
                    <a:p>
                      <a:r>
                        <a:rPr lang="en-IN" sz="1400" b="1" cap="none" spc="0">
                          <a:solidFill>
                            <a:schemeClr val="tx1"/>
                          </a:solidFill>
                        </a:rPr>
                        <a:t>Implementation</a:t>
                      </a:r>
                    </a:p>
                  </a:txBody>
                  <a:tcPr marL="70127" marR="129967" marT="20037" marB="150274">
                    <a:lnL w="12700" cap="flat" cmpd="sng" algn="ctr">
                      <a:solidFill>
                        <a:schemeClr val="accent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r>
                        <a:rPr lang="en-IN" sz="1400" kern="1200" cap="none" spc="0">
                          <a:solidFill>
                            <a:schemeClr val="tx1"/>
                          </a:solidFill>
                          <a:effectLst/>
                          <a:latin typeface="+mn-lt"/>
                          <a:ea typeface="+mn-ea"/>
                          <a:cs typeface="+mn-cs"/>
                        </a:rPr>
                        <a:t>Testing involves accessing cloud services from various devices including desktop computers, mobile devices, and different operating systems to validate cross-platform functionality and user experience.</a:t>
                      </a:r>
                      <a:endParaRPr lang="en-IN" sz="1400" cap="none" spc="0">
                        <a:solidFill>
                          <a:schemeClr val="tx1"/>
                        </a:solidFill>
                      </a:endParaRPr>
                    </a:p>
                  </a:txBody>
                  <a:tcPr marL="70127" marR="129967" marT="20037" marB="150274">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1331792760"/>
                  </a:ext>
                </a:extLst>
              </a:tr>
              <a:tr h="902138">
                <a:tc>
                  <a:txBody>
                    <a:bodyPr/>
                    <a:lstStyle/>
                    <a:p>
                      <a:r>
                        <a:rPr lang="en-IN" sz="1400" b="1" cap="none" spc="0">
                          <a:solidFill>
                            <a:schemeClr val="tx1"/>
                          </a:solidFill>
                        </a:rPr>
                        <a:t>Solutions </a:t>
                      </a:r>
                    </a:p>
                  </a:txBody>
                  <a:tcPr marL="70127" marR="129967" marT="20037" marB="150274">
                    <a:lnL w="12700" cap="flat" cmpd="sng" algn="ctr">
                      <a:solidFill>
                        <a:schemeClr val="accent1"/>
                      </a:solid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kern="1200" cap="none" spc="0">
                          <a:solidFill>
                            <a:schemeClr val="tx1"/>
                          </a:solidFill>
                          <a:effectLst/>
                          <a:latin typeface="+mn-lt"/>
                          <a:ea typeface="+mn-ea"/>
                          <a:cs typeface="+mn-cs"/>
                        </a:rPr>
                        <a:t>Results demonstrate that properly configured self-hosted solutions can provide excellent cross-platform compatibility, support various browsers and device types while maintain consistent user experience.</a:t>
                      </a:r>
                    </a:p>
                  </a:txBody>
                  <a:tcPr marL="70127" marR="129967" marT="20037" marB="150274">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extLst>
                  <a:ext uri="{0D108BD9-81ED-4DB2-BD59-A6C34878D82A}">
                    <a16:rowId xmlns:a16="http://schemas.microsoft.com/office/drawing/2014/main" val="217935773"/>
                  </a:ext>
                </a:extLst>
              </a:tr>
              <a:tr h="902138">
                <a:tc>
                  <a:txBody>
                    <a:bodyPr/>
                    <a:lstStyle/>
                    <a:p>
                      <a:r>
                        <a:rPr lang="en-IN" sz="1400" b="1" cap="none" spc="0">
                          <a:solidFill>
                            <a:schemeClr val="tx1"/>
                          </a:solidFill>
                        </a:rPr>
                        <a:t>Critical Comments </a:t>
                      </a:r>
                    </a:p>
                  </a:txBody>
                  <a:tcPr marL="70127" marR="129967" marT="20037" marB="150274">
                    <a:lnL w="12700" cap="flat" cmpd="sng" algn="ctr">
                      <a:solidFill>
                        <a:schemeClr val="accent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r>
                        <a:rPr lang="en-IN" sz="1400" kern="1200" cap="none" spc="0" dirty="0">
                          <a:solidFill>
                            <a:schemeClr val="tx1"/>
                          </a:solidFill>
                          <a:effectLst/>
                          <a:latin typeface="+mn-lt"/>
                          <a:ea typeface="+mn-ea"/>
                          <a:cs typeface="+mn-cs"/>
                        </a:rPr>
                        <a:t>The study validates the practicality of self-hosted cloud solutions for personal and organizational use. Future work could involve performance optimization, mobile application integration, and advanced synchronization features.</a:t>
                      </a:r>
                      <a:endParaRPr lang="en-IN" sz="1400" cap="none" spc="0" dirty="0">
                        <a:solidFill>
                          <a:schemeClr val="tx1"/>
                        </a:solidFill>
                      </a:endParaRPr>
                    </a:p>
                  </a:txBody>
                  <a:tcPr marL="70127" marR="129967" marT="20037" marB="150274">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2957486875"/>
                  </a:ext>
                </a:extLst>
              </a:tr>
            </a:tbl>
          </a:graphicData>
        </a:graphic>
      </p:graphicFrame>
    </p:spTree>
    <p:extLst>
      <p:ext uri="{BB962C8B-B14F-4D97-AF65-F5344CB8AC3E}">
        <p14:creationId xmlns:p14="http://schemas.microsoft.com/office/powerpoint/2010/main" val="988647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F1C29-D138-8C02-DEB2-0D0EFF6E4434}"/>
              </a:ext>
            </a:extLst>
          </p:cNvPr>
          <p:cNvSpPr>
            <a:spLocks noGrp="1"/>
          </p:cNvSpPr>
          <p:nvPr>
            <p:ph type="title"/>
          </p:nvPr>
        </p:nvSpPr>
        <p:spPr>
          <a:xfrm>
            <a:off x="2895600" y="764373"/>
            <a:ext cx="7241458" cy="661304"/>
          </a:xfrm>
        </p:spPr>
        <p:txBody>
          <a:bodyPr/>
          <a:lstStyle/>
          <a:p>
            <a:pPr algn="ctr"/>
            <a:r>
              <a:rPr lang="en-IN" b="1" u="sng"/>
              <a:t>Objective </a:t>
            </a:r>
            <a:endParaRPr lang="en-IN" b="1" u="sng" dirty="0"/>
          </a:p>
        </p:txBody>
      </p:sp>
      <p:graphicFrame>
        <p:nvGraphicFramePr>
          <p:cNvPr id="11" name="Content Placeholder 2">
            <a:extLst>
              <a:ext uri="{FF2B5EF4-FFF2-40B4-BE49-F238E27FC236}">
                <a16:creationId xmlns:a16="http://schemas.microsoft.com/office/drawing/2014/main" id="{F0C1BBAE-63F0-62FF-381E-A289E7763EF6}"/>
              </a:ext>
            </a:extLst>
          </p:cNvPr>
          <p:cNvGraphicFramePr>
            <a:graphicFrameLocks noGrp="1"/>
          </p:cNvGraphicFramePr>
          <p:nvPr>
            <p:ph idx="1"/>
          </p:nvPr>
        </p:nvGraphicFramePr>
        <p:xfrm>
          <a:off x="685800" y="1425677"/>
          <a:ext cx="10820400" cy="51029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8426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5DE20DFA-89DB-4DCD-9C6A-E6F94CA7549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pic>
        <p:nvPicPr>
          <p:cNvPr id="22" name="Picture 21">
            <a:extLst>
              <a:ext uri="{FF2B5EF4-FFF2-40B4-BE49-F238E27FC236}">
                <a16:creationId xmlns:a16="http://schemas.microsoft.com/office/drawing/2014/main" id="{B606DC21-B3AA-4AE9-844F-E667E84438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a:extLst>
              <a:ext uri="{FF2B5EF4-FFF2-40B4-BE49-F238E27FC236}">
                <a16:creationId xmlns:a16="http://schemas.microsoft.com/office/drawing/2014/main" id="{56831FB2-CE37-AF07-1C6C-729146E73782}"/>
              </a:ext>
            </a:extLst>
          </p:cNvPr>
          <p:cNvSpPr>
            <a:spLocks noGrp="1"/>
          </p:cNvSpPr>
          <p:nvPr>
            <p:ph type="title"/>
          </p:nvPr>
        </p:nvSpPr>
        <p:spPr>
          <a:xfrm>
            <a:off x="8266820" y="673240"/>
            <a:ext cx="3300981" cy="3446373"/>
          </a:xfrm>
          <a:noFill/>
          <a:ln w="19050">
            <a:noFill/>
            <a:prstDash val="dash"/>
          </a:ln>
        </p:spPr>
        <p:txBody>
          <a:bodyPr vert="horz" lIns="91440" tIns="45720" rIns="91440" bIns="45720" rtlCol="0" anchor="b">
            <a:normAutofit/>
          </a:bodyPr>
          <a:lstStyle/>
          <a:p>
            <a:pPr algn="l"/>
            <a:r>
              <a:rPr lang="en-US" sz="4800" b="1" u="sng"/>
              <a:t>Block diagram</a:t>
            </a:r>
          </a:p>
        </p:txBody>
      </p:sp>
      <p:sp>
        <p:nvSpPr>
          <p:cNvPr id="24" name="Rectangle 23">
            <a:extLst>
              <a:ext uri="{FF2B5EF4-FFF2-40B4-BE49-F238E27FC236}">
                <a16:creationId xmlns:a16="http://schemas.microsoft.com/office/drawing/2014/main" id="{127F6A1F-0148-4498-AE88-8D2F04C3D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46782" y="-1"/>
            <a:ext cx="4245218" cy="5367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C6CB0956-5737-416E-AC6A-19ADEAF847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94678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11">
            <a:extLst>
              <a:ext uri="{FF2B5EF4-FFF2-40B4-BE49-F238E27FC236}">
                <a16:creationId xmlns:a16="http://schemas.microsoft.com/office/drawing/2014/main" id="{620CA732-DD89-44F5-830B-E09421E863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338" y="643464"/>
            <a:ext cx="6638814" cy="5571072"/>
          </a:xfrm>
          <a:prstGeom prst="roundRect">
            <a:avLst>
              <a:gd name="adj" fmla="val 2403"/>
            </a:avLst>
          </a:prstGeom>
          <a:solidFill>
            <a:srgbClr val="FFFFFF"/>
          </a:solidFill>
          <a:ln>
            <a:noFill/>
          </a:ln>
          <a:effectLst>
            <a:innerShdw blurRad="114300">
              <a:srgbClr val="404040"/>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B623DCA8-5968-F6D9-F71E-BD1782EA79A1}"/>
              </a:ext>
            </a:extLst>
          </p:cNvPr>
          <p:cNvPicPr>
            <a:picLocks noChangeAspect="1"/>
          </p:cNvPicPr>
          <p:nvPr/>
        </p:nvPicPr>
        <p:blipFill>
          <a:blip r:embed="rId4"/>
          <a:srcRect t="7780" r="2" b="2824"/>
          <a:stretch>
            <a:fillRect/>
          </a:stretch>
        </p:blipFill>
        <p:spPr>
          <a:xfrm>
            <a:off x="1293000" y="1286928"/>
            <a:ext cx="5339490" cy="4284145"/>
          </a:xfrm>
          <a:prstGeom prst="rect">
            <a:avLst/>
          </a:prstGeom>
        </p:spPr>
      </p:pic>
    </p:spTree>
    <p:extLst>
      <p:ext uri="{BB962C8B-B14F-4D97-AF65-F5344CB8AC3E}">
        <p14:creationId xmlns:p14="http://schemas.microsoft.com/office/powerpoint/2010/main" val="3778171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E23F9-5BF5-7861-27C0-E250FA729D74}"/>
              </a:ext>
            </a:extLst>
          </p:cNvPr>
          <p:cNvSpPr>
            <a:spLocks noGrp="1"/>
          </p:cNvSpPr>
          <p:nvPr>
            <p:ph type="title"/>
          </p:nvPr>
        </p:nvSpPr>
        <p:spPr>
          <a:xfrm>
            <a:off x="2895600" y="764373"/>
            <a:ext cx="8610600" cy="916943"/>
          </a:xfrm>
        </p:spPr>
        <p:txBody>
          <a:bodyPr/>
          <a:lstStyle/>
          <a:p>
            <a:pPr algn="ctr"/>
            <a:r>
              <a:rPr lang="en-IN" b="1" u="sng"/>
              <a:t>Proposed setup</a:t>
            </a:r>
            <a:endParaRPr lang="en-IN" b="1" u="sng" dirty="0"/>
          </a:p>
        </p:txBody>
      </p:sp>
      <p:sp>
        <p:nvSpPr>
          <p:cNvPr id="3" name="Content Placeholder 2">
            <a:extLst>
              <a:ext uri="{FF2B5EF4-FFF2-40B4-BE49-F238E27FC236}">
                <a16:creationId xmlns:a16="http://schemas.microsoft.com/office/drawing/2014/main" id="{8B81DA93-A58A-5096-A5B9-72AE4D47F424}"/>
              </a:ext>
            </a:extLst>
          </p:cNvPr>
          <p:cNvSpPr>
            <a:spLocks noGrp="1"/>
          </p:cNvSpPr>
          <p:nvPr>
            <p:ph idx="1"/>
          </p:nvPr>
        </p:nvSpPr>
        <p:spPr>
          <a:xfrm>
            <a:off x="685800" y="1799304"/>
            <a:ext cx="10820400" cy="4419382"/>
          </a:xfrm>
        </p:spPr>
        <p:txBody>
          <a:bodyPr>
            <a:normAutofit/>
          </a:bodyPr>
          <a:lstStyle/>
          <a:p>
            <a:pPr lvl="0">
              <a:buFont typeface="Wingdings" panose="05000000000000000000" pitchFamily="2" charset="2"/>
              <a:buChar char="q"/>
            </a:pPr>
            <a:r>
              <a:rPr lang="en-IN" b="1"/>
              <a:t>VirtualBox Configuration:</a:t>
            </a:r>
            <a:r>
              <a:rPr lang="en-IN"/>
              <a:t> Create virtual machine with adequate resources, configure bridged network adapter for external access</a:t>
            </a:r>
          </a:p>
          <a:p>
            <a:pPr lvl="0">
              <a:buFont typeface="Wingdings" panose="05000000000000000000" pitchFamily="2" charset="2"/>
              <a:buChar char="q"/>
            </a:pPr>
            <a:r>
              <a:rPr lang="en-IN" b="1"/>
              <a:t>Rocky Linux Installation:</a:t>
            </a:r>
            <a:r>
              <a:rPr lang="en-IN"/>
              <a:t> Install Rocky Linux 9.6, configure basic system settings and network connectivity</a:t>
            </a:r>
          </a:p>
          <a:p>
            <a:pPr lvl="0">
              <a:buFont typeface="Wingdings" panose="05000000000000000000" pitchFamily="2" charset="2"/>
              <a:buChar char="q"/>
            </a:pPr>
            <a:r>
              <a:rPr lang="en-IN" b="1"/>
              <a:t>LAMP Stack Deployment:</a:t>
            </a:r>
            <a:r>
              <a:rPr lang="en-IN"/>
              <a:t> Install and configure Apache web server, MariaDB database, PHP 8.2 runtime environment</a:t>
            </a:r>
          </a:p>
          <a:p>
            <a:pPr lvl="0">
              <a:buFont typeface="Wingdings" panose="05000000000000000000" pitchFamily="2" charset="2"/>
              <a:buChar char="q"/>
            </a:pPr>
            <a:r>
              <a:rPr lang="en-IN" b="1"/>
              <a:t>Nextcloud Installation:</a:t>
            </a:r>
            <a:r>
              <a:rPr lang="en-IN"/>
              <a:t> Download and deploy Nextcloud Hub 10, configure database connections and file permissions</a:t>
            </a:r>
          </a:p>
          <a:p>
            <a:pPr lvl="0">
              <a:buFont typeface="Wingdings" panose="05000000000000000000" pitchFamily="2" charset="2"/>
              <a:buChar char="q"/>
            </a:pPr>
            <a:r>
              <a:rPr lang="en-IN" b="1"/>
              <a:t>Security Hardening:</a:t>
            </a:r>
            <a:r>
              <a:rPr lang="en-IN"/>
              <a:t> Configure firewalld rules, secure database installation, implement access controls</a:t>
            </a:r>
          </a:p>
          <a:p>
            <a:pPr>
              <a:buFont typeface="Wingdings" panose="05000000000000000000" pitchFamily="2" charset="2"/>
              <a:buChar char="q"/>
            </a:pPr>
            <a:r>
              <a:rPr lang="en-IN" b="1"/>
              <a:t>Cross-Platform Testing:</a:t>
            </a:r>
            <a:r>
              <a:rPr lang="en-IN"/>
              <a:t> Validate functionality across Windows 11 desktop and Android mobile platforms</a:t>
            </a:r>
            <a:endParaRPr lang="en-IN" dirty="0"/>
          </a:p>
        </p:txBody>
      </p:sp>
    </p:spTree>
    <p:extLst>
      <p:ext uri="{BB962C8B-B14F-4D97-AF65-F5344CB8AC3E}">
        <p14:creationId xmlns:p14="http://schemas.microsoft.com/office/powerpoint/2010/main" val="323941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3BB35-EF00-B6C2-F855-09E18BD24449}"/>
              </a:ext>
            </a:extLst>
          </p:cNvPr>
          <p:cNvSpPr>
            <a:spLocks noGrp="1"/>
          </p:cNvSpPr>
          <p:nvPr>
            <p:ph type="title"/>
          </p:nvPr>
        </p:nvSpPr>
        <p:spPr>
          <a:xfrm>
            <a:off x="2895600" y="764373"/>
            <a:ext cx="8610600" cy="897279"/>
          </a:xfrm>
        </p:spPr>
        <p:txBody>
          <a:bodyPr/>
          <a:lstStyle/>
          <a:p>
            <a:pPr algn="ctr"/>
            <a:r>
              <a:rPr lang="en-IN" b="1" u="sng" dirty="0"/>
              <a:t>Hardware &amp; software tools </a:t>
            </a:r>
          </a:p>
        </p:txBody>
      </p:sp>
      <p:sp>
        <p:nvSpPr>
          <p:cNvPr id="3" name="Content Placeholder 2">
            <a:extLst>
              <a:ext uri="{FF2B5EF4-FFF2-40B4-BE49-F238E27FC236}">
                <a16:creationId xmlns:a16="http://schemas.microsoft.com/office/drawing/2014/main" id="{D45493B6-5CC8-F23B-2EBB-C9DA7FC91FB8}"/>
              </a:ext>
            </a:extLst>
          </p:cNvPr>
          <p:cNvSpPr>
            <a:spLocks noGrp="1"/>
          </p:cNvSpPr>
          <p:nvPr>
            <p:ph sz="half" idx="1"/>
          </p:nvPr>
        </p:nvSpPr>
        <p:spPr/>
        <p:txBody>
          <a:bodyPr>
            <a:normAutofit fontScale="92500" lnSpcReduction="10000"/>
          </a:bodyPr>
          <a:lstStyle/>
          <a:p>
            <a:pPr marL="0" indent="0">
              <a:buNone/>
            </a:pPr>
            <a:r>
              <a:rPr lang="en-IN" sz="2400" b="1" i="1" dirty="0"/>
              <a:t>Hardware Specifications:</a:t>
            </a:r>
            <a:endParaRPr lang="en-IN" sz="2400" dirty="0"/>
          </a:p>
          <a:p>
            <a:pPr lvl="0">
              <a:buFont typeface="Wingdings" panose="05000000000000000000" pitchFamily="2" charset="2"/>
              <a:buChar char="Ø"/>
            </a:pPr>
            <a:r>
              <a:rPr lang="en-IN" b="1" dirty="0"/>
              <a:t>Base Memory (RAM): </a:t>
            </a:r>
            <a:r>
              <a:rPr lang="en-IN" dirty="0"/>
              <a:t>4096 MB (4 GB)</a:t>
            </a:r>
          </a:p>
          <a:p>
            <a:pPr lvl="0">
              <a:buFont typeface="Wingdings" panose="05000000000000000000" pitchFamily="2" charset="2"/>
              <a:buChar char="Ø"/>
            </a:pPr>
            <a:r>
              <a:rPr lang="en-IN" b="1" dirty="0"/>
              <a:t>Processors (CPU): </a:t>
            </a:r>
            <a:r>
              <a:rPr lang="en-IN" dirty="0"/>
              <a:t>2 cores</a:t>
            </a:r>
          </a:p>
          <a:p>
            <a:pPr lvl="0">
              <a:buFont typeface="Wingdings" panose="05000000000000000000" pitchFamily="2" charset="2"/>
              <a:buChar char="Ø"/>
            </a:pPr>
            <a:r>
              <a:rPr lang="en-IN" b="1" dirty="0"/>
              <a:t>Storage (Virtual Hard Disk): </a:t>
            </a:r>
            <a:r>
              <a:rPr lang="en-IN" dirty="0"/>
              <a:t>50 GB</a:t>
            </a:r>
          </a:p>
          <a:p>
            <a:pPr lvl="0">
              <a:buFont typeface="Wingdings" panose="05000000000000000000" pitchFamily="2" charset="2"/>
              <a:buChar char="Ø"/>
            </a:pPr>
            <a:r>
              <a:rPr lang="en-IN" b="1" dirty="0"/>
              <a:t>Network:</a:t>
            </a:r>
          </a:p>
          <a:p>
            <a:pPr lvl="0">
              <a:buFont typeface="Wingdings" panose="05000000000000000000" pitchFamily="2" charset="2"/>
              <a:buChar char="§"/>
            </a:pPr>
            <a:r>
              <a:rPr lang="en-IN" b="1" dirty="0"/>
              <a:t> Attached to: </a:t>
            </a:r>
            <a:r>
              <a:rPr lang="en-IN" dirty="0"/>
              <a:t>Bridged Adapter</a:t>
            </a:r>
          </a:p>
          <a:p>
            <a:pPr lvl="0">
              <a:buFont typeface="Wingdings" panose="05000000000000000000" pitchFamily="2" charset="2"/>
              <a:buChar char="§"/>
            </a:pPr>
            <a:r>
              <a:rPr lang="en-IN" b="1" dirty="0"/>
              <a:t>Name (Physical Host Adapter): </a:t>
            </a:r>
            <a:r>
              <a:rPr lang="en-IN" dirty="0"/>
              <a:t>Realtek RTL8852BE Wi-Fi 6 802.11ax PCIe Adapter</a:t>
            </a:r>
          </a:p>
          <a:p>
            <a:pPr lvl="0">
              <a:buFont typeface="Wingdings" panose="05000000000000000000" pitchFamily="2" charset="2"/>
              <a:buChar char="§"/>
            </a:pPr>
            <a:r>
              <a:rPr lang="en-IN" b="1" dirty="0"/>
              <a:t>Adapter Type: </a:t>
            </a:r>
            <a:r>
              <a:rPr lang="en-IN" dirty="0"/>
              <a:t>Intel PRO/1000 MT Desktop (82540EM)</a:t>
            </a:r>
          </a:p>
          <a:p>
            <a:pPr lvl="0">
              <a:buFont typeface="Wingdings" panose="05000000000000000000" pitchFamily="2" charset="2"/>
              <a:buChar char="§"/>
            </a:pPr>
            <a:endParaRPr lang="en-IN" b="1" dirty="0"/>
          </a:p>
          <a:p>
            <a:pPr marL="0" lvl="0" indent="0">
              <a:buNone/>
            </a:pPr>
            <a:endParaRPr lang="en-IN" dirty="0"/>
          </a:p>
          <a:p>
            <a:pPr lvl="0">
              <a:buFont typeface="Wingdings" panose="05000000000000000000" pitchFamily="2" charset="2"/>
              <a:buChar char="Ø"/>
            </a:pPr>
            <a:endParaRPr lang="en-IN" dirty="0"/>
          </a:p>
        </p:txBody>
      </p:sp>
      <p:sp>
        <p:nvSpPr>
          <p:cNvPr id="4" name="Content Placeholder 3">
            <a:extLst>
              <a:ext uri="{FF2B5EF4-FFF2-40B4-BE49-F238E27FC236}">
                <a16:creationId xmlns:a16="http://schemas.microsoft.com/office/drawing/2014/main" id="{6EA33C2E-EA96-E2F8-4D1A-65D6BF25A7D4}"/>
              </a:ext>
            </a:extLst>
          </p:cNvPr>
          <p:cNvSpPr>
            <a:spLocks noGrp="1"/>
          </p:cNvSpPr>
          <p:nvPr>
            <p:ph sz="half" idx="2"/>
          </p:nvPr>
        </p:nvSpPr>
        <p:spPr/>
        <p:txBody>
          <a:bodyPr>
            <a:normAutofit fontScale="92500" lnSpcReduction="10000"/>
          </a:bodyPr>
          <a:lstStyle/>
          <a:p>
            <a:pPr marL="0" indent="0">
              <a:buNone/>
            </a:pPr>
            <a:r>
              <a:rPr lang="en-IN" sz="2600" b="1" i="1" dirty="0"/>
              <a:t>Software Components:</a:t>
            </a:r>
            <a:endParaRPr lang="en-IN" sz="2600" dirty="0"/>
          </a:p>
          <a:p>
            <a:pPr lvl="0">
              <a:buFont typeface="Wingdings" panose="05000000000000000000" pitchFamily="2" charset="2"/>
              <a:buChar char="Ø"/>
            </a:pPr>
            <a:r>
              <a:rPr lang="en-IN" b="1" dirty="0"/>
              <a:t>Hypervisor:</a:t>
            </a:r>
            <a:r>
              <a:rPr lang="en-IN" dirty="0"/>
              <a:t> Oracle VirtualBox</a:t>
            </a:r>
          </a:p>
          <a:p>
            <a:pPr lvl="0">
              <a:buFont typeface="Wingdings" panose="05000000000000000000" pitchFamily="2" charset="2"/>
              <a:buChar char="Ø"/>
            </a:pPr>
            <a:r>
              <a:rPr lang="en-IN" b="1" dirty="0"/>
              <a:t>Operating System:</a:t>
            </a:r>
            <a:r>
              <a:rPr lang="en-IN" dirty="0"/>
              <a:t> Rocky Linux 9.6 (64-bit)</a:t>
            </a:r>
          </a:p>
          <a:p>
            <a:pPr lvl="0">
              <a:buFont typeface="Wingdings" panose="05000000000000000000" pitchFamily="2" charset="2"/>
              <a:buChar char="Ø"/>
            </a:pPr>
            <a:r>
              <a:rPr lang="en-IN" b="1" dirty="0"/>
              <a:t>Web Server:</a:t>
            </a:r>
            <a:r>
              <a:rPr lang="en-IN" dirty="0"/>
              <a:t> Apache HTTP Server</a:t>
            </a:r>
          </a:p>
          <a:p>
            <a:pPr lvl="0">
              <a:buFont typeface="Wingdings" panose="05000000000000000000" pitchFamily="2" charset="2"/>
              <a:buChar char="Ø"/>
            </a:pPr>
            <a:r>
              <a:rPr lang="en-IN" b="1" dirty="0"/>
              <a:t>Database:</a:t>
            </a:r>
            <a:r>
              <a:rPr lang="en-IN" dirty="0"/>
              <a:t> MariaDB Server</a:t>
            </a:r>
          </a:p>
          <a:p>
            <a:pPr lvl="0">
              <a:buFont typeface="Wingdings" panose="05000000000000000000" pitchFamily="2" charset="2"/>
              <a:buChar char="Ø"/>
            </a:pPr>
            <a:r>
              <a:rPr lang="en-IN" b="1" dirty="0"/>
              <a:t>Runtime:</a:t>
            </a:r>
            <a:r>
              <a:rPr lang="en-IN" dirty="0"/>
              <a:t> PHP 8.2</a:t>
            </a:r>
          </a:p>
          <a:p>
            <a:pPr lvl="0">
              <a:buFont typeface="Wingdings" panose="05000000000000000000" pitchFamily="2" charset="2"/>
              <a:buChar char="Ø"/>
            </a:pPr>
            <a:r>
              <a:rPr lang="en-IN" b="1" dirty="0"/>
              <a:t>Application:</a:t>
            </a:r>
            <a:r>
              <a:rPr lang="en-IN" dirty="0"/>
              <a:t> Nextcloud Hub 10</a:t>
            </a:r>
          </a:p>
          <a:p>
            <a:pPr lvl="0">
              <a:buFont typeface="Wingdings" panose="05000000000000000000" pitchFamily="2" charset="2"/>
              <a:buChar char="Ø"/>
            </a:pPr>
            <a:r>
              <a:rPr lang="en-IN" b="1" dirty="0"/>
              <a:t>Security:</a:t>
            </a:r>
            <a:r>
              <a:rPr lang="en-IN" dirty="0"/>
              <a:t> Firewalld</a:t>
            </a:r>
          </a:p>
          <a:p>
            <a:pPr lvl="0">
              <a:buFont typeface="Wingdings" panose="05000000000000000000" pitchFamily="2" charset="2"/>
              <a:buChar char="Ø"/>
            </a:pPr>
            <a:r>
              <a:rPr lang="en-IN" b="1" dirty="0"/>
              <a:t>Testing Platforms:</a:t>
            </a:r>
            <a:r>
              <a:rPr lang="en-IN" dirty="0"/>
              <a:t> Windows 11, Android</a:t>
            </a:r>
          </a:p>
          <a:p>
            <a:endParaRPr lang="en-IN" dirty="0"/>
          </a:p>
        </p:txBody>
      </p:sp>
    </p:spTree>
    <p:extLst>
      <p:ext uri="{BB962C8B-B14F-4D97-AF65-F5344CB8AC3E}">
        <p14:creationId xmlns:p14="http://schemas.microsoft.com/office/powerpoint/2010/main" val="20756311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3000"/>
                <a:shade val="98000"/>
                <a:satMod val="150000"/>
                <a:lumMod val="102000"/>
              </a:schemeClr>
            </a:gs>
            <a:gs pos="50000">
              <a:schemeClr val="bg1">
                <a:tint val="98000"/>
                <a:shade val="90000"/>
                <a:satMod val="130000"/>
                <a:lumMod val="103000"/>
              </a:schemeClr>
            </a:gs>
            <a:gs pos="100000">
              <a:schemeClr val="bg1">
                <a:shade val="63000"/>
                <a:satMod val="120000"/>
              </a:schemeClr>
            </a:gs>
          </a:gsLst>
          <a:lin ang="5400000" scaled="0"/>
        </a:gra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ECDD1C7-3E51-40DC-8B85-24AA12A3917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pic>
        <p:nvPicPr>
          <p:cNvPr id="10" name="Picture 9">
            <a:extLst>
              <a:ext uri="{FF2B5EF4-FFF2-40B4-BE49-F238E27FC236}">
                <a16:creationId xmlns:a16="http://schemas.microsoft.com/office/drawing/2014/main" id="{926BC0C6-2E6A-4FE0-8465-4642D24063F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useBgFill="1">
        <p:nvSpPr>
          <p:cNvPr id="12" name="Rectangle 11">
            <a:extLst>
              <a:ext uri="{FF2B5EF4-FFF2-40B4-BE49-F238E27FC236}">
                <a16:creationId xmlns:a16="http://schemas.microsoft.com/office/drawing/2014/main" id="{50496C6C-A85F-426B-9ED1-3444166CE4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964439-6A18-9A4B-A2C5-9139ECA78C61}"/>
              </a:ext>
            </a:extLst>
          </p:cNvPr>
          <p:cNvSpPr>
            <a:spLocks noGrp="1"/>
          </p:cNvSpPr>
          <p:nvPr>
            <p:ph type="title"/>
          </p:nvPr>
        </p:nvSpPr>
        <p:spPr>
          <a:xfrm>
            <a:off x="792483" y="821265"/>
            <a:ext cx="6098705" cy="5222117"/>
          </a:xfrm>
        </p:spPr>
        <p:txBody>
          <a:bodyPr vert="horz" lIns="91440" tIns="45720" rIns="91440" bIns="45720" rtlCol="0" anchor="ctr">
            <a:normAutofit/>
          </a:bodyPr>
          <a:lstStyle/>
          <a:p>
            <a:r>
              <a:rPr lang="en-US" sz="5400" b="1" u="sng" dirty="0"/>
              <a:t>Implementation</a:t>
            </a:r>
            <a:br>
              <a:rPr lang="en-US" sz="5400" dirty="0"/>
            </a:br>
            <a:endParaRPr lang="en-US" sz="5400" dirty="0"/>
          </a:p>
        </p:txBody>
      </p:sp>
      <p:cxnSp>
        <p:nvCxnSpPr>
          <p:cNvPr id="14" name="Straight Connector 13">
            <a:extLst>
              <a:ext uri="{FF2B5EF4-FFF2-40B4-BE49-F238E27FC236}">
                <a16:creationId xmlns:a16="http://schemas.microsoft.com/office/drawing/2014/main" id="{AD0EF22F-5D3C-4240-8C32-1B20803E5A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397108" y="1923563"/>
            <a:ext cx="0" cy="301752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3C686525-A4A6-4614-8AEE-CF21B8F2AAF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r="43730"/>
          <a:stretch/>
        </p:blipFill>
        <p:spPr>
          <a:xfrm rot="16200000">
            <a:off x="7520388" y="2188762"/>
            <a:ext cx="6860373" cy="2482850"/>
          </a:xfrm>
          <a:prstGeom prst="rect">
            <a:avLst/>
          </a:prstGeom>
        </p:spPr>
      </p:pic>
      <p:sp>
        <p:nvSpPr>
          <p:cNvPr id="3" name="Text Placeholder 2">
            <a:extLst>
              <a:ext uri="{FF2B5EF4-FFF2-40B4-BE49-F238E27FC236}">
                <a16:creationId xmlns:a16="http://schemas.microsoft.com/office/drawing/2014/main" id="{3729B308-4CA8-B8B6-3A5B-05979D9B0640}"/>
              </a:ext>
            </a:extLst>
          </p:cNvPr>
          <p:cNvSpPr>
            <a:spLocks noGrp="1"/>
          </p:cNvSpPr>
          <p:nvPr>
            <p:ph type="body" idx="1"/>
          </p:nvPr>
        </p:nvSpPr>
        <p:spPr>
          <a:xfrm>
            <a:off x="7683672" y="821265"/>
            <a:ext cx="3485070" cy="5222117"/>
          </a:xfrm>
        </p:spPr>
        <p:txBody>
          <a:bodyPr vert="horz" lIns="91440" tIns="45720" rIns="91440" bIns="45720" rtlCol="0" anchor="ctr">
            <a:normAutofit/>
          </a:bodyPr>
          <a:lstStyle/>
          <a:p>
            <a:pPr marL="342900" indent="-342900" algn="l">
              <a:buFont typeface="Wingdings" panose="05000000000000000000" pitchFamily="2" charset="2"/>
              <a:buChar char="q"/>
            </a:pPr>
            <a:r>
              <a:rPr lang="en-US" sz="2000" dirty="0">
                <a:solidFill>
                  <a:schemeClr val="tx1"/>
                </a:solidFill>
              </a:rPr>
              <a:t>System preparation</a:t>
            </a:r>
          </a:p>
          <a:p>
            <a:pPr marL="342900" indent="-342900" algn="l">
              <a:buFont typeface="Wingdings" panose="05000000000000000000" pitchFamily="2" charset="2"/>
              <a:buChar char="q"/>
            </a:pPr>
            <a:r>
              <a:rPr lang="en-US" sz="2000" dirty="0">
                <a:solidFill>
                  <a:schemeClr val="tx1"/>
                </a:solidFill>
              </a:rPr>
              <a:t>Apache Web Server Installation </a:t>
            </a:r>
          </a:p>
          <a:p>
            <a:pPr marL="342900" indent="-342900" algn="l">
              <a:buFont typeface="Wingdings" panose="05000000000000000000" pitchFamily="2" charset="2"/>
              <a:buChar char="q"/>
            </a:pPr>
            <a:r>
              <a:rPr lang="en-US" sz="2000" dirty="0">
                <a:solidFill>
                  <a:schemeClr val="tx1"/>
                </a:solidFill>
              </a:rPr>
              <a:t>MariaDB Database Setup</a:t>
            </a:r>
          </a:p>
          <a:p>
            <a:pPr marL="342900" indent="-342900" algn="l">
              <a:buFont typeface="Wingdings" panose="05000000000000000000" pitchFamily="2" charset="2"/>
              <a:buChar char="q"/>
            </a:pPr>
            <a:r>
              <a:rPr lang="en-US" sz="2000" dirty="0">
                <a:solidFill>
                  <a:schemeClr val="tx1"/>
                </a:solidFill>
              </a:rPr>
              <a:t>PHP Runtime Environment </a:t>
            </a:r>
          </a:p>
          <a:p>
            <a:pPr marL="342900" indent="-342900" algn="l">
              <a:buFont typeface="Wingdings" panose="05000000000000000000" pitchFamily="2" charset="2"/>
              <a:buChar char="q"/>
            </a:pPr>
            <a:r>
              <a:rPr lang="en-US" sz="2000" dirty="0">
                <a:solidFill>
                  <a:schemeClr val="tx1"/>
                </a:solidFill>
              </a:rPr>
              <a:t>Nextcloud Deployment </a:t>
            </a:r>
          </a:p>
          <a:p>
            <a:pPr marL="342900" indent="-342900" algn="l">
              <a:buFont typeface="Wingdings" panose="05000000000000000000" pitchFamily="2" charset="2"/>
              <a:buChar char="q"/>
            </a:pPr>
            <a:r>
              <a:rPr lang="en-US" sz="2000" dirty="0">
                <a:solidFill>
                  <a:schemeClr val="tx1"/>
                </a:solidFill>
              </a:rPr>
              <a:t>Database Configuration</a:t>
            </a:r>
          </a:p>
          <a:p>
            <a:pPr marL="342900" indent="-342900" algn="l">
              <a:buFont typeface="Wingdings" panose="05000000000000000000" pitchFamily="2" charset="2"/>
              <a:buChar char="q"/>
            </a:pPr>
            <a:r>
              <a:rPr lang="en-US" sz="2000" dirty="0">
                <a:solidFill>
                  <a:schemeClr val="tx1"/>
                </a:solidFill>
              </a:rPr>
              <a:t>Security Configuration</a:t>
            </a:r>
          </a:p>
          <a:p>
            <a:pPr marL="342900" indent="-342900" algn="l">
              <a:buFont typeface="Wingdings" panose="05000000000000000000" pitchFamily="2" charset="2"/>
              <a:buChar char="q"/>
            </a:pPr>
            <a:r>
              <a:rPr lang="en-US" sz="2000" dirty="0">
                <a:solidFill>
                  <a:schemeClr val="tx1"/>
                </a:solidFill>
              </a:rPr>
              <a:t>Network Configuration</a:t>
            </a:r>
          </a:p>
          <a:p>
            <a:pPr algn="l"/>
            <a:endParaRPr lang="en-US" sz="2000" dirty="0">
              <a:solidFill>
                <a:schemeClr val="tx1"/>
              </a:solidFill>
            </a:endParaRPr>
          </a:p>
        </p:txBody>
      </p:sp>
    </p:spTree>
    <p:extLst>
      <p:ext uri="{BB962C8B-B14F-4D97-AF65-F5344CB8AC3E}">
        <p14:creationId xmlns:p14="http://schemas.microsoft.com/office/powerpoint/2010/main" val="12919877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6208B-1C18-8EF0-88F7-401778A0DB6D}"/>
              </a:ext>
            </a:extLst>
          </p:cNvPr>
          <p:cNvSpPr>
            <a:spLocks noGrp="1"/>
          </p:cNvSpPr>
          <p:nvPr>
            <p:ph type="title"/>
          </p:nvPr>
        </p:nvSpPr>
        <p:spPr>
          <a:xfrm>
            <a:off x="2895600" y="764373"/>
            <a:ext cx="8610600" cy="612143"/>
          </a:xfrm>
        </p:spPr>
        <p:txBody>
          <a:bodyPr>
            <a:normAutofit/>
          </a:bodyPr>
          <a:lstStyle/>
          <a:p>
            <a:pPr algn="ctr"/>
            <a:r>
              <a:rPr lang="en-IN" sz="3600" b="1" u="sng" dirty="0"/>
              <a:t>System preparation </a:t>
            </a:r>
          </a:p>
        </p:txBody>
      </p:sp>
      <p:pic>
        <p:nvPicPr>
          <p:cNvPr id="7" name="Content Placeholder 6">
            <a:extLst>
              <a:ext uri="{FF2B5EF4-FFF2-40B4-BE49-F238E27FC236}">
                <a16:creationId xmlns:a16="http://schemas.microsoft.com/office/drawing/2014/main" id="{E3590F56-379E-5CE0-105F-75265ADCCA82}"/>
              </a:ext>
            </a:extLst>
          </p:cNvPr>
          <p:cNvPicPr>
            <a:picLocks noGrp="1" noChangeAspect="1"/>
          </p:cNvPicPr>
          <p:nvPr>
            <p:ph sz="half" idx="1"/>
          </p:nvPr>
        </p:nvPicPr>
        <p:blipFill>
          <a:blip r:embed="rId2"/>
          <a:stretch>
            <a:fillRect/>
          </a:stretch>
        </p:blipFill>
        <p:spPr>
          <a:xfrm>
            <a:off x="685800" y="3151584"/>
            <a:ext cx="3947160" cy="2108994"/>
          </a:xfrm>
          <a:prstGeom prst="rect">
            <a:avLst/>
          </a:prstGeom>
        </p:spPr>
      </p:pic>
      <p:pic>
        <p:nvPicPr>
          <p:cNvPr id="12" name="Content Placeholder 11">
            <a:extLst>
              <a:ext uri="{FF2B5EF4-FFF2-40B4-BE49-F238E27FC236}">
                <a16:creationId xmlns:a16="http://schemas.microsoft.com/office/drawing/2014/main" id="{1160D782-8919-790A-F41F-4903D8EA9505}"/>
              </a:ext>
            </a:extLst>
          </p:cNvPr>
          <p:cNvPicPr>
            <a:picLocks noGrp="1" noChangeAspect="1"/>
          </p:cNvPicPr>
          <p:nvPr>
            <p:ph sz="half" idx="2"/>
          </p:nvPr>
        </p:nvPicPr>
        <p:blipFill>
          <a:blip r:embed="rId3"/>
          <a:stretch>
            <a:fillRect/>
          </a:stretch>
        </p:blipFill>
        <p:spPr>
          <a:xfrm>
            <a:off x="4947920" y="1696720"/>
            <a:ext cx="6553889" cy="4152653"/>
          </a:xfrm>
          <a:prstGeom prst="rect">
            <a:avLst/>
          </a:prstGeom>
        </p:spPr>
      </p:pic>
    </p:spTree>
    <p:extLst>
      <p:ext uri="{BB962C8B-B14F-4D97-AF65-F5344CB8AC3E}">
        <p14:creationId xmlns:p14="http://schemas.microsoft.com/office/powerpoint/2010/main" val="35526048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C5AE1-D6E7-B682-3D50-1A006EA3769F}"/>
              </a:ext>
            </a:extLst>
          </p:cNvPr>
          <p:cNvSpPr>
            <a:spLocks noGrp="1"/>
          </p:cNvSpPr>
          <p:nvPr>
            <p:ph type="title"/>
          </p:nvPr>
        </p:nvSpPr>
        <p:spPr>
          <a:xfrm>
            <a:off x="2895600" y="764373"/>
            <a:ext cx="8610600" cy="661304"/>
          </a:xfrm>
        </p:spPr>
        <p:txBody>
          <a:bodyPr>
            <a:normAutofit fontScale="90000"/>
          </a:bodyPr>
          <a:lstStyle/>
          <a:p>
            <a:pPr algn="ctr"/>
            <a:r>
              <a:rPr lang="en-IN" b="1" u="sng" dirty="0"/>
              <a:t>APACHE WEB SERVER INSTALLATION</a:t>
            </a:r>
          </a:p>
        </p:txBody>
      </p:sp>
      <p:pic>
        <p:nvPicPr>
          <p:cNvPr id="6" name="Content Placeholder 5" descr="A screen shot of a computer&#10;&#10;AI-generated content may be incorrect.">
            <a:extLst>
              <a:ext uri="{FF2B5EF4-FFF2-40B4-BE49-F238E27FC236}">
                <a16:creationId xmlns:a16="http://schemas.microsoft.com/office/drawing/2014/main" id="{026D4AE3-292B-06A8-7966-1FF7BCA36353}"/>
              </a:ext>
            </a:extLst>
          </p:cNvPr>
          <p:cNvPicPr>
            <a:picLocks noGrp="1" noChangeAspect="1"/>
          </p:cNvPicPr>
          <p:nvPr>
            <p:ph sz="half" idx="1"/>
          </p:nvPr>
        </p:nvPicPr>
        <p:blipFill>
          <a:blip r:embed="rId2"/>
          <a:stretch>
            <a:fillRect/>
          </a:stretch>
        </p:blipFill>
        <p:spPr>
          <a:xfrm>
            <a:off x="685800" y="2255520"/>
            <a:ext cx="3987800" cy="2797579"/>
          </a:xfrm>
          <a:prstGeom prst="rect">
            <a:avLst/>
          </a:prstGeom>
        </p:spPr>
      </p:pic>
      <p:pic>
        <p:nvPicPr>
          <p:cNvPr id="10" name="Content Placeholder 9">
            <a:extLst>
              <a:ext uri="{FF2B5EF4-FFF2-40B4-BE49-F238E27FC236}">
                <a16:creationId xmlns:a16="http://schemas.microsoft.com/office/drawing/2014/main" id="{97B4CA3F-B923-84D9-4D6E-43589E86A78C}"/>
              </a:ext>
            </a:extLst>
          </p:cNvPr>
          <p:cNvPicPr>
            <a:picLocks noGrp="1" noChangeAspect="1"/>
          </p:cNvPicPr>
          <p:nvPr>
            <p:ph sz="half" idx="2"/>
          </p:nvPr>
        </p:nvPicPr>
        <p:blipFill>
          <a:blip r:embed="rId3"/>
          <a:stretch>
            <a:fillRect/>
          </a:stretch>
        </p:blipFill>
        <p:spPr>
          <a:xfrm>
            <a:off x="4749987" y="1425677"/>
            <a:ext cx="6756213" cy="4593794"/>
          </a:xfrm>
          <a:prstGeom prst="rect">
            <a:avLst/>
          </a:prstGeom>
        </p:spPr>
      </p:pic>
    </p:spTree>
    <p:extLst>
      <p:ext uri="{BB962C8B-B14F-4D97-AF65-F5344CB8AC3E}">
        <p14:creationId xmlns:p14="http://schemas.microsoft.com/office/powerpoint/2010/main" val="89695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A8B27-0F66-9D72-6FBD-D79981AAA963}"/>
              </a:ext>
            </a:extLst>
          </p:cNvPr>
          <p:cNvSpPr>
            <a:spLocks noGrp="1"/>
          </p:cNvSpPr>
          <p:nvPr>
            <p:ph type="title"/>
          </p:nvPr>
        </p:nvSpPr>
        <p:spPr/>
        <p:txBody>
          <a:bodyPr/>
          <a:lstStyle/>
          <a:p>
            <a:pPr algn="ctr"/>
            <a:r>
              <a:rPr lang="en-IN" b="1" u="sng"/>
              <a:t>MARIADB DATABASE SETUP</a:t>
            </a:r>
            <a:endParaRPr lang="en-IN" b="1" u="sng" dirty="0"/>
          </a:p>
        </p:txBody>
      </p:sp>
      <p:pic>
        <p:nvPicPr>
          <p:cNvPr id="4" name="Picture 3">
            <a:extLst>
              <a:ext uri="{FF2B5EF4-FFF2-40B4-BE49-F238E27FC236}">
                <a16:creationId xmlns:a16="http://schemas.microsoft.com/office/drawing/2014/main" id="{4A8D4FF4-114C-E274-C419-FD5C956ACD08}"/>
              </a:ext>
            </a:extLst>
          </p:cNvPr>
          <p:cNvPicPr>
            <a:picLocks noChangeAspect="1"/>
          </p:cNvPicPr>
          <p:nvPr/>
        </p:nvPicPr>
        <p:blipFill>
          <a:blip r:embed="rId2"/>
          <a:stretch>
            <a:fillRect/>
          </a:stretch>
        </p:blipFill>
        <p:spPr>
          <a:xfrm>
            <a:off x="685800" y="1930131"/>
            <a:ext cx="9268428" cy="4572915"/>
          </a:xfrm>
          <a:prstGeom prst="rect">
            <a:avLst/>
          </a:prstGeom>
        </p:spPr>
      </p:pic>
    </p:spTree>
    <p:extLst>
      <p:ext uri="{BB962C8B-B14F-4D97-AF65-F5344CB8AC3E}">
        <p14:creationId xmlns:p14="http://schemas.microsoft.com/office/powerpoint/2010/main" val="20086269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B70DF-F2A3-1DAA-5A55-30E00C7E0D06}"/>
              </a:ext>
            </a:extLst>
          </p:cNvPr>
          <p:cNvSpPr>
            <a:spLocks noGrp="1"/>
          </p:cNvSpPr>
          <p:nvPr>
            <p:ph type="title"/>
          </p:nvPr>
        </p:nvSpPr>
        <p:spPr/>
        <p:txBody>
          <a:bodyPr/>
          <a:lstStyle/>
          <a:p>
            <a:pPr algn="ctr"/>
            <a:r>
              <a:rPr lang="en-IN" b="1" u="sng" dirty="0"/>
              <a:t>PHP RUNTIME ENVIRONMENT </a:t>
            </a:r>
          </a:p>
        </p:txBody>
      </p:sp>
      <p:pic>
        <p:nvPicPr>
          <p:cNvPr id="9" name="Content Placeholder 8">
            <a:extLst>
              <a:ext uri="{FF2B5EF4-FFF2-40B4-BE49-F238E27FC236}">
                <a16:creationId xmlns:a16="http://schemas.microsoft.com/office/drawing/2014/main" id="{1EBA56AC-13A0-6B1E-804D-B4CC77A52007}"/>
              </a:ext>
            </a:extLst>
          </p:cNvPr>
          <p:cNvPicPr>
            <a:picLocks noGrp="1" noChangeAspect="1"/>
          </p:cNvPicPr>
          <p:nvPr>
            <p:ph sz="half" idx="1"/>
          </p:nvPr>
        </p:nvPicPr>
        <p:blipFill>
          <a:blip r:embed="rId2"/>
          <a:stretch>
            <a:fillRect/>
          </a:stretch>
        </p:blipFill>
        <p:spPr>
          <a:xfrm>
            <a:off x="975126" y="1820105"/>
            <a:ext cx="5197074" cy="4398133"/>
          </a:xfrm>
          <a:prstGeom prst="rect">
            <a:avLst/>
          </a:prstGeom>
        </p:spPr>
      </p:pic>
      <p:pic>
        <p:nvPicPr>
          <p:cNvPr id="11" name="Content Placeholder 10">
            <a:extLst>
              <a:ext uri="{FF2B5EF4-FFF2-40B4-BE49-F238E27FC236}">
                <a16:creationId xmlns:a16="http://schemas.microsoft.com/office/drawing/2014/main" id="{C809FE4B-99AC-F0F6-19EC-21F3E1F1CBD4}"/>
              </a:ext>
            </a:extLst>
          </p:cNvPr>
          <p:cNvPicPr>
            <a:picLocks noGrp="1" noChangeAspect="1"/>
          </p:cNvPicPr>
          <p:nvPr>
            <p:ph sz="half" idx="2"/>
          </p:nvPr>
        </p:nvPicPr>
        <p:blipFill>
          <a:blip r:embed="rId3"/>
          <a:stretch>
            <a:fillRect/>
          </a:stretch>
        </p:blipFill>
        <p:spPr>
          <a:xfrm>
            <a:off x="6600463" y="3272396"/>
            <a:ext cx="5334000" cy="1730846"/>
          </a:xfrm>
          <a:prstGeom prst="rect">
            <a:avLst/>
          </a:prstGeom>
        </p:spPr>
      </p:pic>
    </p:spTree>
    <p:extLst>
      <p:ext uri="{BB962C8B-B14F-4D97-AF65-F5344CB8AC3E}">
        <p14:creationId xmlns:p14="http://schemas.microsoft.com/office/powerpoint/2010/main" val="1874085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A63B9-AF83-FC67-B20B-52B295D475F1}"/>
              </a:ext>
            </a:extLst>
          </p:cNvPr>
          <p:cNvSpPr>
            <a:spLocks noGrp="1"/>
          </p:cNvSpPr>
          <p:nvPr>
            <p:ph type="title"/>
          </p:nvPr>
        </p:nvSpPr>
        <p:spPr/>
        <p:txBody>
          <a:bodyPr/>
          <a:lstStyle/>
          <a:p>
            <a:pPr algn="l"/>
            <a:r>
              <a:rPr lang="en-IN" b="1" u="sng" dirty="0"/>
              <a:t>NEXTCLOUD DEPLOYMENT </a:t>
            </a:r>
          </a:p>
        </p:txBody>
      </p:sp>
      <p:pic>
        <p:nvPicPr>
          <p:cNvPr id="5" name="Content Placeholder 4" descr="A computer screen shot of a computer&#10;&#10;AI-generated content may be incorrect.">
            <a:extLst>
              <a:ext uri="{FF2B5EF4-FFF2-40B4-BE49-F238E27FC236}">
                <a16:creationId xmlns:a16="http://schemas.microsoft.com/office/drawing/2014/main" id="{046A8910-2121-D995-F20B-0554AFE85675}"/>
              </a:ext>
            </a:extLst>
          </p:cNvPr>
          <p:cNvPicPr>
            <a:picLocks noGrp="1" noChangeAspect="1"/>
          </p:cNvPicPr>
          <p:nvPr>
            <p:ph sz="half" idx="1"/>
          </p:nvPr>
        </p:nvPicPr>
        <p:blipFill>
          <a:blip r:embed="rId2"/>
          <a:stretch>
            <a:fillRect/>
          </a:stretch>
        </p:blipFill>
        <p:spPr>
          <a:xfrm>
            <a:off x="222813" y="3290861"/>
            <a:ext cx="4537276" cy="1899889"/>
          </a:xfrm>
          <a:prstGeom prst="rect">
            <a:avLst/>
          </a:prstGeom>
        </p:spPr>
      </p:pic>
      <p:pic>
        <p:nvPicPr>
          <p:cNvPr id="6" name="Content Placeholder 5">
            <a:extLst>
              <a:ext uri="{FF2B5EF4-FFF2-40B4-BE49-F238E27FC236}">
                <a16:creationId xmlns:a16="http://schemas.microsoft.com/office/drawing/2014/main" id="{BC8BD7AC-ED0A-B04F-F27C-7B04D62BEE66}"/>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974122" y="2291787"/>
            <a:ext cx="6995065" cy="4371915"/>
          </a:xfrm>
          <a:prstGeom prst="rect">
            <a:avLst/>
          </a:prstGeom>
          <a:noFill/>
          <a:ln>
            <a:noFill/>
          </a:ln>
        </p:spPr>
      </p:pic>
    </p:spTree>
    <p:extLst>
      <p:ext uri="{BB962C8B-B14F-4D97-AF65-F5344CB8AC3E}">
        <p14:creationId xmlns:p14="http://schemas.microsoft.com/office/powerpoint/2010/main" val="15148228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D1B12-7C34-ED84-4A2B-E513130275CF}"/>
              </a:ext>
            </a:extLst>
          </p:cNvPr>
          <p:cNvSpPr>
            <a:spLocks noGrp="1"/>
          </p:cNvSpPr>
          <p:nvPr>
            <p:ph type="title"/>
          </p:nvPr>
        </p:nvSpPr>
        <p:spPr/>
        <p:txBody>
          <a:bodyPr/>
          <a:lstStyle/>
          <a:p>
            <a:pPr algn="l"/>
            <a:r>
              <a:rPr lang="en-IN" b="1" u="sng" dirty="0"/>
              <a:t>DATABASE CONFIGURATION</a:t>
            </a:r>
          </a:p>
        </p:txBody>
      </p:sp>
      <p:pic>
        <p:nvPicPr>
          <p:cNvPr id="4" name="Content Placeholder 3" descr="A screen shot of a computer&#10;&#10;AI-generated content may be incorrect.">
            <a:extLst>
              <a:ext uri="{FF2B5EF4-FFF2-40B4-BE49-F238E27FC236}">
                <a16:creationId xmlns:a16="http://schemas.microsoft.com/office/drawing/2014/main" id="{A0D6AE20-E8BC-9E4D-2BC6-26AB3494BE8B}"/>
              </a:ext>
            </a:extLst>
          </p:cNvPr>
          <p:cNvPicPr>
            <a:picLocks noGrp="1" noChangeAspect="1"/>
          </p:cNvPicPr>
          <p:nvPr>
            <p:ph idx="1"/>
          </p:nvPr>
        </p:nvPicPr>
        <p:blipFill>
          <a:blip r:embed="rId2"/>
          <a:stretch>
            <a:fillRect/>
          </a:stretch>
        </p:blipFill>
        <p:spPr>
          <a:xfrm>
            <a:off x="169220" y="2391167"/>
            <a:ext cx="11853559" cy="3442361"/>
          </a:xfrm>
          <a:prstGeom prst="rect">
            <a:avLst/>
          </a:prstGeom>
        </p:spPr>
      </p:pic>
    </p:spTree>
    <p:extLst>
      <p:ext uri="{BB962C8B-B14F-4D97-AF65-F5344CB8AC3E}">
        <p14:creationId xmlns:p14="http://schemas.microsoft.com/office/powerpoint/2010/main" val="37151148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9EF1C-6B26-9AC9-3160-A1358F28CFB4}"/>
              </a:ext>
            </a:extLst>
          </p:cNvPr>
          <p:cNvSpPr>
            <a:spLocks noGrp="1"/>
          </p:cNvSpPr>
          <p:nvPr>
            <p:ph type="title"/>
          </p:nvPr>
        </p:nvSpPr>
        <p:spPr>
          <a:xfrm>
            <a:off x="2895600" y="389788"/>
            <a:ext cx="8610600" cy="1293028"/>
          </a:xfrm>
        </p:spPr>
        <p:txBody>
          <a:bodyPr/>
          <a:lstStyle/>
          <a:p>
            <a:pPr algn="ctr"/>
            <a:r>
              <a:rPr lang="en-IN" b="1" u="sng" dirty="0"/>
              <a:t>SECURITY CONFIGURATION </a:t>
            </a:r>
          </a:p>
        </p:txBody>
      </p:sp>
      <p:pic>
        <p:nvPicPr>
          <p:cNvPr id="3" name="Picture 2" descr="A screenshot of a computer program&#10;&#10;AI-generated content may be incorrect.">
            <a:extLst>
              <a:ext uri="{FF2B5EF4-FFF2-40B4-BE49-F238E27FC236}">
                <a16:creationId xmlns:a16="http://schemas.microsoft.com/office/drawing/2014/main" id="{B91CADA0-6C36-F36B-CEB9-78269CAB6D96}"/>
              </a:ext>
            </a:extLst>
          </p:cNvPr>
          <p:cNvPicPr>
            <a:picLocks noChangeAspect="1"/>
          </p:cNvPicPr>
          <p:nvPr/>
        </p:nvPicPr>
        <p:blipFill>
          <a:blip r:embed="rId2"/>
          <a:stretch>
            <a:fillRect/>
          </a:stretch>
        </p:blipFill>
        <p:spPr>
          <a:xfrm>
            <a:off x="685799" y="1491737"/>
            <a:ext cx="6687273" cy="1689266"/>
          </a:xfrm>
          <a:prstGeom prst="rect">
            <a:avLst/>
          </a:prstGeom>
        </p:spPr>
      </p:pic>
      <p:pic>
        <p:nvPicPr>
          <p:cNvPr id="8" name="Picture 7">
            <a:extLst>
              <a:ext uri="{FF2B5EF4-FFF2-40B4-BE49-F238E27FC236}">
                <a16:creationId xmlns:a16="http://schemas.microsoft.com/office/drawing/2014/main" id="{C147D9EC-9C80-1959-70AA-1AD4BA108922}"/>
              </a:ext>
            </a:extLst>
          </p:cNvPr>
          <p:cNvPicPr>
            <a:picLocks noChangeAspect="1"/>
          </p:cNvPicPr>
          <p:nvPr/>
        </p:nvPicPr>
        <p:blipFill>
          <a:blip r:embed="rId3"/>
          <a:stretch>
            <a:fillRect/>
          </a:stretch>
        </p:blipFill>
        <p:spPr>
          <a:xfrm>
            <a:off x="1668684" y="3429000"/>
            <a:ext cx="9211519" cy="3180144"/>
          </a:xfrm>
          <a:prstGeom prst="rect">
            <a:avLst/>
          </a:prstGeom>
        </p:spPr>
      </p:pic>
    </p:spTree>
    <p:extLst>
      <p:ext uri="{BB962C8B-B14F-4D97-AF65-F5344CB8AC3E}">
        <p14:creationId xmlns:p14="http://schemas.microsoft.com/office/powerpoint/2010/main" val="11546021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7626C8E-FB50-4909-8D9D-09E34A8DBFA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12" name="Rectangle 11">
            <a:extLst>
              <a:ext uri="{FF2B5EF4-FFF2-40B4-BE49-F238E27FC236}">
                <a16:creationId xmlns:a16="http://schemas.microsoft.com/office/drawing/2014/main" id="{F4BC5FDE-742F-4CD5-9802-0DCB8E7A12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B5A3490F-59A2-47B7-9BD7-2F932A559D1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1">
            <a:extLst>
              <a:ext uri="{FF2B5EF4-FFF2-40B4-BE49-F238E27FC236}">
                <a16:creationId xmlns:a16="http://schemas.microsoft.com/office/drawing/2014/main" id="{A03EA265-E95F-427F-DFFC-CAEAA47BE1DE}"/>
              </a:ext>
            </a:extLst>
          </p:cNvPr>
          <p:cNvSpPr>
            <a:spLocks noGrp="1"/>
          </p:cNvSpPr>
          <p:nvPr>
            <p:ph type="title"/>
          </p:nvPr>
        </p:nvSpPr>
        <p:spPr>
          <a:xfrm>
            <a:off x="685800" y="1105622"/>
            <a:ext cx="3306744" cy="1293028"/>
          </a:xfrm>
        </p:spPr>
        <p:txBody>
          <a:bodyPr vert="horz" lIns="91440" tIns="45720" rIns="91440" bIns="45720" rtlCol="0" anchor="ctr">
            <a:normAutofit/>
          </a:bodyPr>
          <a:lstStyle/>
          <a:p>
            <a:pPr algn="r"/>
            <a:r>
              <a:rPr lang="en-US" sz="2700" b="1" u="sng"/>
              <a:t>NETWORK CONFIGURATION</a:t>
            </a:r>
          </a:p>
        </p:txBody>
      </p:sp>
      <p:sp>
        <p:nvSpPr>
          <p:cNvPr id="4" name="Text Placeholder 3">
            <a:extLst>
              <a:ext uri="{FF2B5EF4-FFF2-40B4-BE49-F238E27FC236}">
                <a16:creationId xmlns:a16="http://schemas.microsoft.com/office/drawing/2014/main" id="{72B67094-DBB2-51CA-F6B1-BAE4A5DEE5A2}"/>
              </a:ext>
            </a:extLst>
          </p:cNvPr>
          <p:cNvSpPr>
            <a:spLocks noGrp="1"/>
          </p:cNvSpPr>
          <p:nvPr>
            <p:ph type="body" sz="half" idx="2"/>
          </p:nvPr>
        </p:nvSpPr>
        <p:spPr>
          <a:xfrm>
            <a:off x="685801" y="2535810"/>
            <a:ext cx="3306742" cy="3682875"/>
          </a:xfrm>
        </p:spPr>
        <p:txBody>
          <a:bodyPr vert="horz" lIns="91440" tIns="45720" rIns="91440" bIns="45720" rtlCol="0">
            <a:normAutofit/>
          </a:bodyPr>
          <a:lstStyle/>
          <a:p>
            <a:pPr indent="-228600">
              <a:buFont typeface="Arial" panose="020B0604020202020204" pitchFamily="34" charset="0"/>
              <a:buChar char="•"/>
            </a:pPr>
            <a:r>
              <a:rPr lang="en-US"/>
              <a:t>The system was initially configured with NAT network adapter, which caused connectivity issues when accessing from external devices. The solution was to switch to Bridged Network Adapter in VirtualBox settings, allowing the VM to obtain an IP address on the same network segment as the host machine, enabling access from other devices.</a:t>
            </a:r>
          </a:p>
          <a:p>
            <a:pPr indent="-228600">
              <a:buFont typeface="Arial" panose="020B0604020202020204" pitchFamily="34" charset="0"/>
              <a:buChar char="•"/>
            </a:pPr>
            <a:endParaRPr lang="en-US"/>
          </a:p>
        </p:txBody>
      </p:sp>
      <p:sp>
        <p:nvSpPr>
          <p:cNvPr id="16" name="Rounded Rectangle 14">
            <a:extLst>
              <a:ext uri="{FF2B5EF4-FFF2-40B4-BE49-F238E27FC236}">
                <a16:creationId xmlns:a16="http://schemas.microsoft.com/office/drawing/2014/main" id="{D6132709-FB08-4579-805D-77B0F718F8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6008" y="1066164"/>
            <a:ext cx="6765949" cy="5148371"/>
          </a:xfrm>
          <a:prstGeom prst="roundRect">
            <a:avLst>
              <a:gd name="adj" fmla="val 2403"/>
            </a:avLst>
          </a:prstGeom>
          <a:solidFill>
            <a:srgbClr val="FFFFFF"/>
          </a:solidFill>
          <a:ln>
            <a:noFill/>
          </a:ln>
          <a:effectLst>
            <a:innerShdw blurRad="114300">
              <a:srgbClr val="404040"/>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shot of a computer&#10;&#10;AI-generated content may be incorrect.">
            <a:extLst>
              <a:ext uri="{FF2B5EF4-FFF2-40B4-BE49-F238E27FC236}">
                <a16:creationId xmlns:a16="http://schemas.microsoft.com/office/drawing/2014/main" id="{010FE7B3-BF29-DFE4-1A7C-65EB317EBA3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bwMode="auto">
          <a:xfrm>
            <a:off x="4955339" y="1725573"/>
            <a:ext cx="6127287" cy="3829553"/>
          </a:xfrm>
          <a:prstGeom prst="rect">
            <a:avLst/>
          </a:prstGeom>
          <a:noFill/>
        </p:spPr>
      </p:pic>
    </p:spTree>
    <p:extLst>
      <p:ext uri="{BB962C8B-B14F-4D97-AF65-F5344CB8AC3E}">
        <p14:creationId xmlns:p14="http://schemas.microsoft.com/office/powerpoint/2010/main" val="17937737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omputer screen shot of a computer&#10;&#10;AI-generated content may be incorrect.">
            <a:extLst>
              <a:ext uri="{FF2B5EF4-FFF2-40B4-BE49-F238E27FC236}">
                <a16:creationId xmlns:a16="http://schemas.microsoft.com/office/drawing/2014/main" id="{750E6B41-146C-9639-999A-1EBF17AE00FB}"/>
              </a:ext>
            </a:extLst>
          </p:cNvPr>
          <p:cNvPicPr>
            <a:picLocks noChangeAspect="1"/>
          </p:cNvPicPr>
          <p:nvPr/>
        </p:nvPicPr>
        <p:blipFill>
          <a:blip r:embed="rId2"/>
          <a:stretch>
            <a:fillRect/>
          </a:stretch>
        </p:blipFill>
        <p:spPr>
          <a:xfrm>
            <a:off x="1423686" y="792088"/>
            <a:ext cx="9589358" cy="5411942"/>
          </a:xfrm>
          <a:prstGeom prst="rect">
            <a:avLst/>
          </a:prstGeom>
        </p:spPr>
      </p:pic>
    </p:spTree>
    <p:extLst>
      <p:ext uri="{BB962C8B-B14F-4D97-AF65-F5344CB8AC3E}">
        <p14:creationId xmlns:p14="http://schemas.microsoft.com/office/powerpoint/2010/main" val="33733003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7626C8E-FB50-4909-8D9D-09E34A8DBFA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12" name="Rectangle 11">
            <a:extLst>
              <a:ext uri="{FF2B5EF4-FFF2-40B4-BE49-F238E27FC236}">
                <a16:creationId xmlns:a16="http://schemas.microsoft.com/office/drawing/2014/main" id="{F4BC5FDE-742F-4CD5-9802-0DCB8E7A12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B5A3490F-59A2-47B7-9BD7-2F932A559D1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1">
            <a:extLst>
              <a:ext uri="{FF2B5EF4-FFF2-40B4-BE49-F238E27FC236}">
                <a16:creationId xmlns:a16="http://schemas.microsoft.com/office/drawing/2014/main" id="{167EB083-A604-60C9-BCCC-F11416CBA4AE}"/>
              </a:ext>
            </a:extLst>
          </p:cNvPr>
          <p:cNvSpPr>
            <a:spLocks noGrp="1"/>
          </p:cNvSpPr>
          <p:nvPr>
            <p:ph type="title"/>
          </p:nvPr>
        </p:nvSpPr>
        <p:spPr>
          <a:xfrm>
            <a:off x="685800" y="1105622"/>
            <a:ext cx="3306744" cy="1293028"/>
          </a:xfrm>
        </p:spPr>
        <p:txBody>
          <a:bodyPr vert="horz" lIns="91440" tIns="45720" rIns="91440" bIns="45720" rtlCol="0" anchor="ctr">
            <a:normAutofit/>
          </a:bodyPr>
          <a:lstStyle/>
          <a:p>
            <a:pPr algn="r"/>
            <a:r>
              <a:rPr lang="en-US" b="1" u="sng"/>
              <a:t>TESTING AND RESULTS </a:t>
            </a:r>
          </a:p>
        </p:txBody>
      </p:sp>
      <p:sp>
        <p:nvSpPr>
          <p:cNvPr id="4" name="Text Placeholder 3">
            <a:extLst>
              <a:ext uri="{FF2B5EF4-FFF2-40B4-BE49-F238E27FC236}">
                <a16:creationId xmlns:a16="http://schemas.microsoft.com/office/drawing/2014/main" id="{8DEE0E57-48D0-9BA6-3148-C7BA0AC32061}"/>
              </a:ext>
            </a:extLst>
          </p:cNvPr>
          <p:cNvSpPr>
            <a:spLocks noGrp="1"/>
          </p:cNvSpPr>
          <p:nvPr>
            <p:ph type="body" sz="half" idx="2"/>
          </p:nvPr>
        </p:nvSpPr>
        <p:spPr>
          <a:xfrm>
            <a:off x="685801" y="2535810"/>
            <a:ext cx="3306742" cy="3682875"/>
          </a:xfrm>
        </p:spPr>
        <p:txBody>
          <a:bodyPr vert="horz" lIns="91440" tIns="45720" rIns="91440" bIns="45720" rtlCol="0">
            <a:normAutofit lnSpcReduction="10000"/>
          </a:bodyPr>
          <a:lstStyle/>
          <a:p>
            <a:r>
              <a:rPr lang="en-US" sz="2000" b="1" i="1" dirty="0"/>
              <a:t>Functionality Testing</a:t>
            </a:r>
            <a:endParaRPr lang="en-US" sz="2000" dirty="0"/>
          </a:p>
          <a:p>
            <a:pPr marL="342900" lvl="0" indent="-285750">
              <a:buFont typeface="Wingdings" panose="05000000000000000000" pitchFamily="2" charset="2"/>
              <a:buChar char="q"/>
            </a:pPr>
            <a:r>
              <a:rPr lang="en-US" b="1" dirty="0"/>
              <a:t>File Upload:</a:t>
            </a:r>
            <a:r>
              <a:rPr lang="en-US" dirty="0"/>
              <a:t> Successfully uploaded screenshot files to Nextcloud storage</a:t>
            </a:r>
          </a:p>
          <a:p>
            <a:pPr marL="342900" lvl="0" indent="-285750">
              <a:buFont typeface="Wingdings" panose="05000000000000000000" pitchFamily="2" charset="2"/>
              <a:buChar char="q"/>
            </a:pPr>
            <a:r>
              <a:rPr lang="en-US" b="1" dirty="0"/>
              <a:t>Cross-Platform Access:</a:t>
            </a:r>
            <a:r>
              <a:rPr lang="en-US" dirty="0"/>
              <a:t> Verified access from Windows 11 desktop computer via web browser</a:t>
            </a:r>
          </a:p>
          <a:p>
            <a:pPr marL="342900" lvl="0" indent="-285750">
              <a:buFont typeface="Wingdings" panose="05000000000000000000" pitchFamily="2" charset="2"/>
              <a:buChar char="q"/>
            </a:pPr>
            <a:r>
              <a:rPr lang="en-US" b="1" dirty="0"/>
              <a:t>Mobile Compatibility:</a:t>
            </a:r>
            <a:r>
              <a:rPr lang="en-US" dirty="0"/>
              <a:t> Tested file access and viewing from Android mobile device</a:t>
            </a:r>
          </a:p>
          <a:p>
            <a:pPr marL="342900" lvl="0" indent="-285750">
              <a:buFont typeface="Wingdings" panose="05000000000000000000" pitchFamily="2" charset="2"/>
              <a:buChar char="q"/>
            </a:pPr>
            <a:r>
              <a:rPr lang="en-US" b="1" dirty="0"/>
              <a:t>User Interface:</a:t>
            </a:r>
            <a:r>
              <a:rPr lang="en-US" dirty="0"/>
              <a:t> Confirmed responsive web interface across different screen sizes</a:t>
            </a:r>
          </a:p>
          <a:p>
            <a:pPr indent="-228600">
              <a:buFont typeface="Arial" panose="020B0604020202020204" pitchFamily="34" charset="0"/>
              <a:buChar char="•"/>
            </a:pPr>
            <a:endParaRPr lang="en-US" dirty="0"/>
          </a:p>
        </p:txBody>
      </p:sp>
      <p:sp>
        <p:nvSpPr>
          <p:cNvPr id="16" name="Rounded Rectangle 14">
            <a:extLst>
              <a:ext uri="{FF2B5EF4-FFF2-40B4-BE49-F238E27FC236}">
                <a16:creationId xmlns:a16="http://schemas.microsoft.com/office/drawing/2014/main" id="{D6132709-FB08-4579-805D-77B0F718F8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6008" y="1066164"/>
            <a:ext cx="6765949" cy="5148371"/>
          </a:xfrm>
          <a:prstGeom prst="roundRect">
            <a:avLst>
              <a:gd name="adj" fmla="val 2403"/>
            </a:avLst>
          </a:prstGeom>
          <a:solidFill>
            <a:srgbClr val="FFFFFF"/>
          </a:solidFill>
          <a:ln>
            <a:noFill/>
          </a:ln>
          <a:effectLst>
            <a:innerShdw blurRad="114300">
              <a:srgbClr val="404040"/>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shot of a computer&#10;&#10;AI-generated content may be incorrect.">
            <a:extLst>
              <a:ext uri="{FF2B5EF4-FFF2-40B4-BE49-F238E27FC236}">
                <a16:creationId xmlns:a16="http://schemas.microsoft.com/office/drawing/2014/main" id="{DB814564-B9C0-6407-A8CB-27AD662EAD9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bwMode="auto">
          <a:xfrm>
            <a:off x="4955339" y="1725573"/>
            <a:ext cx="6127287" cy="3829553"/>
          </a:xfrm>
          <a:prstGeom prst="rect">
            <a:avLst/>
          </a:prstGeom>
          <a:noFill/>
        </p:spPr>
      </p:pic>
    </p:spTree>
    <p:extLst>
      <p:ext uri="{BB962C8B-B14F-4D97-AF65-F5344CB8AC3E}">
        <p14:creationId xmlns:p14="http://schemas.microsoft.com/office/powerpoint/2010/main" val="20449417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B7626C8E-FB50-4909-8D9D-09E34A8DBFA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0" name="Rectangle 19">
            <a:extLst>
              <a:ext uri="{FF2B5EF4-FFF2-40B4-BE49-F238E27FC236}">
                <a16:creationId xmlns:a16="http://schemas.microsoft.com/office/drawing/2014/main" id="{F4BC5FDE-742F-4CD5-9802-0DCB8E7A12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B5A3490F-59A2-47B7-9BD7-2F932A559D1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1">
            <a:extLst>
              <a:ext uri="{FF2B5EF4-FFF2-40B4-BE49-F238E27FC236}">
                <a16:creationId xmlns:a16="http://schemas.microsoft.com/office/drawing/2014/main" id="{EE327F25-4E43-311C-875A-E72A215298C7}"/>
              </a:ext>
            </a:extLst>
          </p:cNvPr>
          <p:cNvSpPr>
            <a:spLocks noGrp="1"/>
          </p:cNvSpPr>
          <p:nvPr>
            <p:ph type="title"/>
          </p:nvPr>
        </p:nvSpPr>
        <p:spPr>
          <a:xfrm>
            <a:off x="685800" y="1105622"/>
            <a:ext cx="3306744" cy="1293028"/>
          </a:xfrm>
        </p:spPr>
        <p:txBody>
          <a:bodyPr vert="horz" lIns="91440" tIns="45720" rIns="91440" bIns="45720" rtlCol="0" anchor="ctr">
            <a:normAutofit/>
          </a:bodyPr>
          <a:lstStyle/>
          <a:p>
            <a:pPr algn="r"/>
            <a:r>
              <a:rPr lang="en-US" b="1" u="sng"/>
              <a:t>Performance validation</a:t>
            </a:r>
          </a:p>
        </p:txBody>
      </p:sp>
      <p:sp>
        <p:nvSpPr>
          <p:cNvPr id="4" name="Text Placeholder 3">
            <a:extLst>
              <a:ext uri="{FF2B5EF4-FFF2-40B4-BE49-F238E27FC236}">
                <a16:creationId xmlns:a16="http://schemas.microsoft.com/office/drawing/2014/main" id="{4FA758F3-31F7-B289-92AC-E92BD9C14146}"/>
              </a:ext>
            </a:extLst>
          </p:cNvPr>
          <p:cNvSpPr>
            <a:spLocks noGrp="1"/>
          </p:cNvSpPr>
          <p:nvPr>
            <p:ph type="body" sz="half" idx="2"/>
          </p:nvPr>
        </p:nvSpPr>
        <p:spPr>
          <a:xfrm>
            <a:off x="685801" y="2535810"/>
            <a:ext cx="3306742" cy="3682875"/>
          </a:xfrm>
        </p:spPr>
        <p:txBody>
          <a:bodyPr vert="horz" lIns="91440" tIns="45720" rIns="91440" bIns="45720" rtlCol="0">
            <a:normAutofit/>
          </a:bodyPr>
          <a:lstStyle/>
          <a:p>
            <a:pPr marL="342900" lvl="0" indent="-285750">
              <a:buFont typeface="Wingdings" panose="05000000000000000000" pitchFamily="2" charset="2"/>
              <a:buChar char="q"/>
            </a:pPr>
            <a:r>
              <a:rPr lang="en-US" sz="1400" b="1" dirty="0"/>
              <a:t>System Responsiveness:</a:t>
            </a:r>
            <a:r>
              <a:rPr lang="en-US" sz="1400" dirty="0"/>
              <a:t> Web interface loads quickly and responds well to user interactions</a:t>
            </a:r>
          </a:p>
          <a:p>
            <a:pPr marL="342900" lvl="0" indent="-285750">
              <a:buFont typeface="Wingdings" panose="05000000000000000000" pitchFamily="2" charset="2"/>
              <a:buChar char="q"/>
            </a:pPr>
            <a:r>
              <a:rPr lang="en-US" sz="1400" b="1" dirty="0"/>
              <a:t>File Operations:</a:t>
            </a:r>
            <a:r>
              <a:rPr lang="en-US" sz="1400" dirty="0"/>
              <a:t> Upload and download operations perform efficiently within VM resource constraints</a:t>
            </a:r>
          </a:p>
          <a:p>
            <a:pPr marL="342900" lvl="0" indent="-285750">
              <a:buFont typeface="Wingdings" panose="05000000000000000000" pitchFamily="2" charset="2"/>
              <a:buChar char="q"/>
            </a:pPr>
            <a:r>
              <a:rPr lang="en-US" sz="1400" b="1" dirty="0"/>
              <a:t>Multi-Device Access:</a:t>
            </a:r>
            <a:r>
              <a:rPr lang="en-US" sz="1400" dirty="0"/>
              <a:t> Simultaneous access from multiple devices works without conflicts</a:t>
            </a:r>
          </a:p>
          <a:p>
            <a:pPr marL="342900" lvl="0" indent="-285750">
              <a:buFont typeface="Wingdings" panose="05000000000000000000" pitchFamily="2" charset="2"/>
              <a:buChar char="q"/>
            </a:pPr>
            <a:r>
              <a:rPr lang="en-US" sz="1400" b="1" dirty="0"/>
              <a:t>Storage Capacity:</a:t>
            </a:r>
            <a:r>
              <a:rPr lang="en-US" sz="1400" dirty="0"/>
              <a:t> 50 GB virtual disk provides adequate space for testing and personal use</a:t>
            </a:r>
          </a:p>
          <a:p>
            <a:pPr indent="-228600">
              <a:buFont typeface="Arial" panose="020B0604020202020204" pitchFamily="34" charset="0"/>
              <a:buChar char="•"/>
            </a:pPr>
            <a:endParaRPr lang="en-US" sz="1400" dirty="0"/>
          </a:p>
        </p:txBody>
      </p:sp>
      <p:sp>
        <p:nvSpPr>
          <p:cNvPr id="18" name="Rounded Rectangle 14">
            <a:extLst>
              <a:ext uri="{FF2B5EF4-FFF2-40B4-BE49-F238E27FC236}">
                <a16:creationId xmlns:a16="http://schemas.microsoft.com/office/drawing/2014/main" id="{D6132709-FB08-4579-805D-77B0F718F8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6008" y="1066164"/>
            <a:ext cx="6765949" cy="5148371"/>
          </a:xfrm>
          <a:prstGeom prst="roundRect">
            <a:avLst>
              <a:gd name="adj" fmla="val 2403"/>
            </a:avLst>
          </a:prstGeom>
          <a:solidFill>
            <a:srgbClr val="FFFFFF"/>
          </a:solidFill>
          <a:ln>
            <a:noFill/>
          </a:ln>
          <a:effectLst>
            <a:innerShdw blurRad="114300">
              <a:srgbClr val="404040"/>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descr="A screenshot of a computer&#10;&#10;AI-generated content may be incorrect.">
            <a:extLst>
              <a:ext uri="{FF2B5EF4-FFF2-40B4-BE49-F238E27FC236}">
                <a16:creationId xmlns:a16="http://schemas.microsoft.com/office/drawing/2014/main" id="{8A2EF7A5-314A-8269-04BF-0E791B4A4D24}"/>
              </a:ext>
            </a:extLst>
          </p:cNvPr>
          <p:cNvPicPr>
            <a:picLocks noGrp="1" noChangeAspect="1"/>
          </p:cNvPicPr>
          <p:nvPr>
            <p:ph idx="1"/>
          </p:nvPr>
        </p:nvPicPr>
        <p:blipFill>
          <a:blip r:embed="rId3"/>
          <a:stretch>
            <a:fillRect/>
          </a:stretch>
        </p:blipFill>
        <p:spPr>
          <a:xfrm>
            <a:off x="4754879" y="1554480"/>
            <a:ext cx="6502401" cy="4237356"/>
          </a:xfrm>
          <a:prstGeom prst="rect">
            <a:avLst/>
          </a:prstGeom>
        </p:spPr>
      </p:pic>
    </p:spTree>
    <p:extLst>
      <p:ext uri="{BB962C8B-B14F-4D97-AF65-F5344CB8AC3E}">
        <p14:creationId xmlns:p14="http://schemas.microsoft.com/office/powerpoint/2010/main" val="26615469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DE20DFA-89DB-4DCD-9C6A-E6F94CA7549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pic>
        <p:nvPicPr>
          <p:cNvPr id="11" name="Picture 10">
            <a:extLst>
              <a:ext uri="{FF2B5EF4-FFF2-40B4-BE49-F238E27FC236}">
                <a16:creationId xmlns:a16="http://schemas.microsoft.com/office/drawing/2014/main" id="{B606DC21-B3AA-4AE9-844F-E667E84438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useBgFill="1">
        <p:nvSpPr>
          <p:cNvPr id="13" name="Rectangle 12">
            <a:extLst>
              <a:ext uri="{FF2B5EF4-FFF2-40B4-BE49-F238E27FC236}">
                <a16:creationId xmlns:a16="http://schemas.microsoft.com/office/drawing/2014/main" id="{A7244538-290E-40DA-A93A-14BB3E6CF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1999" cy="454372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B7BA5B-5408-F5E3-2E71-DFB60746E1F5}"/>
              </a:ext>
            </a:extLst>
          </p:cNvPr>
          <p:cNvSpPr>
            <a:spLocks noGrp="1"/>
          </p:cNvSpPr>
          <p:nvPr>
            <p:ph type="title"/>
          </p:nvPr>
        </p:nvSpPr>
        <p:spPr>
          <a:xfrm>
            <a:off x="5615888" y="673240"/>
            <a:ext cx="5951914" cy="3446373"/>
          </a:xfrm>
          <a:noFill/>
          <a:ln w="19050">
            <a:noFill/>
            <a:prstDash val="dash"/>
          </a:ln>
        </p:spPr>
        <p:txBody>
          <a:bodyPr vert="horz" lIns="91440" tIns="45720" rIns="91440" bIns="45720" rtlCol="0" anchor="b">
            <a:normAutofit/>
          </a:bodyPr>
          <a:lstStyle/>
          <a:p>
            <a:r>
              <a:rPr lang="en-US" sz="4800"/>
              <a:t>Android browser</a:t>
            </a:r>
          </a:p>
        </p:txBody>
      </p:sp>
      <p:sp useBgFill="1">
        <p:nvSpPr>
          <p:cNvPr id="15" name="Rectangle 14">
            <a:extLst>
              <a:ext uri="{FF2B5EF4-FFF2-40B4-BE49-F238E27FC236}">
                <a16:creationId xmlns:a16="http://schemas.microsoft.com/office/drawing/2014/main" id="{AB1DF3B3-9DBC-445D-AE4E-A62E5A9B85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96638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03D95B99-2C21-ABF9-CAC7-E89028258EA7}"/>
              </a:ext>
            </a:extLst>
          </p:cNvPr>
          <p:cNvPicPr>
            <a:picLocks noChangeAspect="1"/>
          </p:cNvPicPr>
          <p:nvPr/>
        </p:nvPicPr>
        <p:blipFill>
          <a:blip r:embed="rId4"/>
          <a:srcRect r="1285"/>
          <a:stretch>
            <a:fillRect/>
          </a:stretch>
        </p:blipFill>
        <p:spPr>
          <a:xfrm>
            <a:off x="-4" y="10"/>
            <a:ext cx="5951914" cy="6857990"/>
          </a:xfrm>
          <a:prstGeom prst="rect">
            <a:avLst/>
          </a:prstGeom>
        </p:spPr>
      </p:pic>
      <p:sp>
        <p:nvSpPr>
          <p:cNvPr id="17" name="Rectangle 16">
            <a:extLst>
              <a:ext uri="{FF2B5EF4-FFF2-40B4-BE49-F238E27FC236}">
                <a16:creationId xmlns:a16="http://schemas.microsoft.com/office/drawing/2014/main" id="{F51F80E8-0CAC-410E-B59A-29FDDC357E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46782" y="-1"/>
            <a:ext cx="4245218" cy="5367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5701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ounded Rectangle 14">
            <a:extLst>
              <a:ext uri="{FF2B5EF4-FFF2-40B4-BE49-F238E27FC236}">
                <a16:creationId xmlns:a16="http://schemas.microsoft.com/office/drawing/2014/main" id="{12CC1C37-8BC7-4374-8300-E73C369150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6008" y="0"/>
            <a:ext cx="7555992" cy="6858000"/>
          </a:xfrm>
          <a:prstGeom prst="roundRect">
            <a:avLst>
              <a:gd name="adj" fmla="val 0"/>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CC82757-F96F-41CB-B2B8-49689F436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36008" cy="6858000"/>
          </a:xfrm>
          <a:prstGeom prst="rect">
            <a:avLst/>
          </a:prstGeom>
          <a:solidFill>
            <a:schemeClr val="tx1"/>
          </a:solidFill>
          <a:ln>
            <a:noFill/>
          </a:ln>
          <a:effectLst>
            <a:outerShdw blurRad="635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FA37F53D-999D-4551-B3F8-064DBF31556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61975"/>
          <a:stretch/>
        </p:blipFill>
        <p:spPr>
          <a:xfrm>
            <a:off x="0" y="0"/>
            <a:ext cx="4636008" cy="1441450"/>
          </a:xfrm>
          <a:prstGeom prst="rect">
            <a:avLst/>
          </a:prstGeom>
        </p:spPr>
      </p:pic>
      <p:pic>
        <p:nvPicPr>
          <p:cNvPr id="18" name="Picture 17">
            <a:extLst>
              <a:ext uri="{FF2B5EF4-FFF2-40B4-BE49-F238E27FC236}">
                <a16:creationId xmlns:a16="http://schemas.microsoft.com/office/drawing/2014/main" id="{A9C99389-A1E4-4A6F-BF8E-9013FF0491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r="61975"/>
          <a:stretch/>
        </p:blipFill>
        <p:spPr>
          <a:xfrm>
            <a:off x="0" y="4375150"/>
            <a:ext cx="4636008" cy="2482850"/>
          </a:xfrm>
          <a:prstGeom prst="rect">
            <a:avLst/>
          </a:prstGeom>
        </p:spPr>
      </p:pic>
      <p:sp>
        <p:nvSpPr>
          <p:cNvPr id="2" name="Title 1">
            <a:extLst>
              <a:ext uri="{FF2B5EF4-FFF2-40B4-BE49-F238E27FC236}">
                <a16:creationId xmlns:a16="http://schemas.microsoft.com/office/drawing/2014/main" id="{5F2B7F47-9628-D5CA-6544-401711A46502}"/>
              </a:ext>
            </a:extLst>
          </p:cNvPr>
          <p:cNvSpPr>
            <a:spLocks noGrp="1"/>
          </p:cNvSpPr>
          <p:nvPr>
            <p:ph type="title"/>
          </p:nvPr>
        </p:nvSpPr>
        <p:spPr>
          <a:xfrm>
            <a:off x="685800" y="1066163"/>
            <a:ext cx="3306744" cy="5148371"/>
          </a:xfrm>
        </p:spPr>
        <p:txBody>
          <a:bodyPr>
            <a:normAutofit/>
          </a:bodyPr>
          <a:lstStyle/>
          <a:p>
            <a:r>
              <a:rPr lang="en-IN" sz="3700" b="1" u="sng">
                <a:solidFill>
                  <a:schemeClr val="bg1"/>
                </a:solidFill>
              </a:rPr>
              <a:t>CONCLUSION</a:t>
            </a:r>
          </a:p>
        </p:txBody>
      </p:sp>
      <p:graphicFrame>
        <p:nvGraphicFramePr>
          <p:cNvPr id="8" name="Content Placeholder 5">
            <a:extLst>
              <a:ext uri="{FF2B5EF4-FFF2-40B4-BE49-F238E27FC236}">
                <a16:creationId xmlns:a16="http://schemas.microsoft.com/office/drawing/2014/main" id="{79807516-82A0-6160-CBBA-186CFAB5FA9C}"/>
              </a:ext>
            </a:extLst>
          </p:cNvPr>
          <p:cNvGraphicFramePr>
            <a:graphicFrameLocks noGrp="1"/>
          </p:cNvGraphicFramePr>
          <p:nvPr>
            <p:ph idx="1"/>
            <p:extLst>
              <p:ext uri="{D42A27DB-BD31-4B8C-83A1-F6EECF244321}">
                <p14:modId xmlns:p14="http://schemas.microsoft.com/office/powerpoint/2010/main" val="2439051958"/>
              </p:ext>
            </p:extLst>
          </p:nvPr>
        </p:nvGraphicFramePr>
        <p:xfrm>
          <a:off x="5279472" y="746125"/>
          <a:ext cx="6290226" cy="544774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7769162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3000"/>
                <a:shade val="98000"/>
                <a:satMod val="150000"/>
                <a:lumMod val="102000"/>
              </a:schemeClr>
            </a:gs>
            <a:gs pos="50000">
              <a:schemeClr val="bg1">
                <a:tint val="98000"/>
                <a:shade val="90000"/>
                <a:satMod val="130000"/>
                <a:lumMod val="103000"/>
              </a:schemeClr>
            </a:gs>
            <a:gs pos="100000">
              <a:schemeClr val="bg1">
                <a:shade val="63000"/>
                <a:satMod val="120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B0F52CA-65A7-4535-BF3C-22D126766D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86000"/>
            <a:ext cx="12192000"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2525B01-FF71-4E47-84A9-6A8029A113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86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25A9E0-C6BF-1B19-2F80-AF8F0EE01830}"/>
              </a:ext>
            </a:extLst>
          </p:cNvPr>
          <p:cNvSpPr>
            <a:spLocks noGrp="1"/>
          </p:cNvSpPr>
          <p:nvPr>
            <p:ph type="title"/>
          </p:nvPr>
        </p:nvSpPr>
        <p:spPr>
          <a:xfrm>
            <a:off x="1739900" y="681142"/>
            <a:ext cx="9766300" cy="1293028"/>
          </a:xfrm>
        </p:spPr>
        <p:txBody>
          <a:bodyPr>
            <a:normAutofit/>
          </a:bodyPr>
          <a:lstStyle/>
          <a:p>
            <a:pPr algn="ctr"/>
            <a:r>
              <a:rPr lang="en-IN" b="1" u="sng" dirty="0">
                <a:solidFill>
                  <a:srgbClr val="FFFFFF"/>
                </a:solidFill>
              </a:rPr>
              <a:t>REFERENCES </a:t>
            </a:r>
          </a:p>
        </p:txBody>
      </p:sp>
      <p:sp>
        <p:nvSpPr>
          <p:cNvPr id="3" name="Content Placeholder 2">
            <a:extLst>
              <a:ext uri="{FF2B5EF4-FFF2-40B4-BE49-F238E27FC236}">
                <a16:creationId xmlns:a16="http://schemas.microsoft.com/office/drawing/2014/main" id="{D307FF3B-222B-0605-E565-684BB6B5DA61}"/>
              </a:ext>
            </a:extLst>
          </p:cNvPr>
          <p:cNvSpPr>
            <a:spLocks noGrp="1"/>
          </p:cNvSpPr>
          <p:nvPr>
            <p:ph idx="1"/>
          </p:nvPr>
        </p:nvSpPr>
        <p:spPr>
          <a:xfrm>
            <a:off x="1739900" y="2821774"/>
            <a:ext cx="9766299" cy="3396911"/>
          </a:xfrm>
        </p:spPr>
        <p:txBody>
          <a:bodyPr>
            <a:normAutofit/>
          </a:bodyPr>
          <a:lstStyle/>
          <a:p>
            <a:pPr lvl="0"/>
            <a:r>
              <a:rPr lang="en-IN" sz="2000" dirty="0"/>
              <a:t>Oracle VirtualBox Documentation - </a:t>
            </a:r>
            <a:r>
              <a:rPr lang="en-IN" sz="2000" u="sng" dirty="0">
                <a:hlinkClick r:id="rId2"/>
              </a:rPr>
              <a:t>https://www.virtualbox.org/wiki/Documentation</a:t>
            </a:r>
            <a:endParaRPr lang="en-IN" sz="2000" dirty="0"/>
          </a:p>
          <a:p>
            <a:pPr lvl="0"/>
            <a:r>
              <a:rPr lang="en-IN" sz="2000" dirty="0"/>
              <a:t>Rocky Linux Official Documentation - </a:t>
            </a:r>
            <a:r>
              <a:rPr lang="en-IN" sz="2000" u="sng" dirty="0">
                <a:hlinkClick r:id="rId3"/>
              </a:rPr>
              <a:t>https://docs.rockylinux.org/</a:t>
            </a:r>
            <a:endParaRPr lang="en-IN" sz="2000" dirty="0"/>
          </a:p>
          <a:p>
            <a:pPr lvl="0"/>
            <a:r>
              <a:rPr lang="en-IN" sz="2000" dirty="0"/>
              <a:t>Nextcloud Administration Guide - </a:t>
            </a:r>
            <a:r>
              <a:rPr lang="en-IN" sz="2000" u="sng" dirty="0">
                <a:hlinkClick r:id="rId4"/>
              </a:rPr>
              <a:t>https://docs.nextcloud.com/</a:t>
            </a:r>
            <a:endParaRPr lang="en-IN" sz="2000" dirty="0"/>
          </a:p>
          <a:p>
            <a:pPr lvl="0"/>
            <a:r>
              <a:rPr lang="en-IN" sz="2000" dirty="0"/>
              <a:t>Apache HTTP Server Documentation - </a:t>
            </a:r>
            <a:r>
              <a:rPr lang="en-IN" sz="2000" u="sng" dirty="0">
                <a:hlinkClick r:id="rId5"/>
              </a:rPr>
              <a:t>https://httpd.apache.org/docs/</a:t>
            </a:r>
            <a:endParaRPr lang="en-IN" sz="2000" dirty="0"/>
          </a:p>
          <a:p>
            <a:pPr lvl="0"/>
            <a:r>
              <a:rPr lang="en-IN" sz="2000" dirty="0"/>
              <a:t>MariaDB Knowledge Base - </a:t>
            </a:r>
            <a:r>
              <a:rPr lang="en-IN" sz="2000" u="sng" dirty="0">
                <a:hlinkClick r:id="rId6"/>
              </a:rPr>
              <a:t>https://mariadb.com/kb/</a:t>
            </a:r>
            <a:endParaRPr lang="en-IN" sz="2000" dirty="0"/>
          </a:p>
          <a:p>
            <a:pPr lvl="0"/>
            <a:r>
              <a:rPr lang="en-IN" sz="2000" dirty="0"/>
              <a:t>PHP Official Documentation - </a:t>
            </a:r>
            <a:r>
              <a:rPr lang="en-IN" sz="2000" u="sng" dirty="0">
                <a:hlinkClick r:id="rId7"/>
              </a:rPr>
              <a:t>https://www.php.net/docs.php</a:t>
            </a:r>
            <a:endParaRPr lang="en-IN" sz="2000" dirty="0"/>
          </a:p>
          <a:p>
            <a:pPr lvl="0"/>
            <a:r>
              <a:rPr lang="en-IN" sz="2000" dirty="0"/>
              <a:t>Firewalld Documentation - </a:t>
            </a:r>
            <a:r>
              <a:rPr lang="en-IN" sz="2000" u="sng" dirty="0">
                <a:hlinkClick r:id="rId8"/>
              </a:rPr>
              <a:t>https://firewalld.org/documentation/</a:t>
            </a:r>
            <a:endParaRPr lang="en-IN" sz="2000" dirty="0"/>
          </a:p>
          <a:p>
            <a:endParaRPr lang="en-IN" sz="2000" dirty="0"/>
          </a:p>
        </p:txBody>
      </p:sp>
    </p:spTree>
    <p:extLst>
      <p:ext uri="{BB962C8B-B14F-4D97-AF65-F5344CB8AC3E}">
        <p14:creationId xmlns:p14="http://schemas.microsoft.com/office/powerpoint/2010/main" val="3210317156"/>
      </p:ext>
    </p:extLst>
  </p:cSld>
  <p:clrMapOvr>
    <a:overrideClrMapping bg1="dk1" tx1="lt1" bg2="dk2" tx2="lt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3DCCD-AA86-3740-5699-0EFEDC3CC939}"/>
              </a:ext>
            </a:extLst>
          </p:cNvPr>
          <p:cNvSpPr>
            <a:spLocks noGrp="1"/>
          </p:cNvSpPr>
          <p:nvPr>
            <p:ph type="title"/>
          </p:nvPr>
        </p:nvSpPr>
        <p:spPr>
          <a:xfrm>
            <a:off x="1645534" y="2782486"/>
            <a:ext cx="8610600" cy="1293028"/>
          </a:xfrm>
        </p:spPr>
        <p:txBody>
          <a:bodyPr/>
          <a:lstStyle/>
          <a:p>
            <a:pPr algn="ctr"/>
            <a:r>
              <a:rPr lang="en-IN" b="1" i="1" u="sng" dirty="0">
                <a:effectLst>
                  <a:outerShdw blurRad="38100" dist="38100" dir="2700000" algn="tl">
                    <a:srgbClr val="000000">
                      <a:alpha val="43137"/>
                    </a:srgbClr>
                  </a:outerShdw>
                </a:effectLst>
              </a:rPr>
              <a:t>Thank you </a:t>
            </a:r>
          </a:p>
        </p:txBody>
      </p:sp>
    </p:spTree>
    <p:extLst>
      <p:ext uri="{BB962C8B-B14F-4D97-AF65-F5344CB8AC3E}">
        <p14:creationId xmlns:p14="http://schemas.microsoft.com/office/powerpoint/2010/main" val="1450366909"/>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E5224E"/>
      </a:accent1>
      <a:accent2>
        <a:srgbClr val="9D074E"/>
      </a:accent2>
      <a:accent3>
        <a:srgbClr val="7F2294"/>
      </a:accent3>
      <a:accent4>
        <a:srgbClr val="8D65EA"/>
      </a:accent4>
      <a:accent5>
        <a:srgbClr val="588FE2"/>
      </a:accent5>
      <a:accent6>
        <a:srgbClr val="127CA4"/>
      </a:accent6>
      <a:hlink>
        <a:srgbClr val="FB4AB6"/>
      </a:hlink>
      <a:folHlink>
        <a:srgbClr val="F98FE9"/>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6DB8EB18-3657-4051-A897-2ED38832359E}"/>
    </a:ext>
  </a:extLst>
</a:theme>
</file>

<file path=docProps/app.xml><?xml version="1.0" encoding="utf-8"?>
<Properties xmlns="http://schemas.openxmlformats.org/officeDocument/2006/extended-properties" xmlns:vt="http://schemas.openxmlformats.org/officeDocument/2006/docPropsVTypes">
  <Template>TM04033937[[fn=Vapor Trail]]</Template>
  <TotalTime>615</TotalTime>
  <Words>1124</Words>
  <Application>Microsoft Office PowerPoint</Application>
  <PresentationFormat>Widescreen</PresentationFormat>
  <Paragraphs>109</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Century Gothic</vt:lpstr>
      <vt:lpstr>Wingdings</vt:lpstr>
      <vt:lpstr>Vapor Trail</vt:lpstr>
      <vt:lpstr>Full  stack  private  cloud implementation  on  nExtcloud </vt:lpstr>
      <vt:lpstr>Agenda</vt:lpstr>
      <vt:lpstr>Literature Survey</vt:lpstr>
      <vt:lpstr>Literature Survey</vt:lpstr>
      <vt:lpstr>Objective </vt:lpstr>
      <vt:lpstr>Block diagram</vt:lpstr>
      <vt:lpstr>Proposed setup</vt:lpstr>
      <vt:lpstr>Hardware &amp; software tools </vt:lpstr>
      <vt:lpstr>Implementation </vt:lpstr>
      <vt:lpstr>System preparation </vt:lpstr>
      <vt:lpstr>APACHE WEB SERVER INSTALLATION</vt:lpstr>
      <vt:lpstr>MARIADB DATABASE SETUP</vt:lpstr>
      <vt:lpstr>PHP RUNTIME ENVIRONMENT </vt:lpstr>
      <vt:lpstr>NEXTCLOUD DEPLOYMENT </vt:lpstr>
      <vt:lpstr>DATABASE CONFIGURATION</vt:lpstr>
      <vt:lpstr>SECURITY CONFIGURATION </vt:lpstr>
      <vt:lpstr>NETWORK CONFIGURATION</vt:lpstr>
      <vt:lpstr>PowerPoint Presentation</vt:lpstr>
      <vt:lpstr>TESTING AND RESULTS </vt:lpstr>
      <vt:lpstr>Performance validation</vt:lpstr>
      <vt:lpstr>Android browser</vt:lpstr>
      <vt:lpstr>CONCLUSION</vt:lpstr>
      <vt:lpstr>REFERENCES </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Anush Rayat</dc:creator>
  <cp:lastModifiedBy>Anush Rayat</cp:lastModifiedBy>
  <cp:revision>2</cp:revision>
  <dcterms:created xsi:type="dcterms:W3CDTF">2025-08-24T06:44:40Z</dcterms:created>
  <dcterms:modified xsi:type="dcterms:W3CDTF">2025-08-28T05:56:48Z</dcterms:modified>
</cp:coreProperties>
</file>